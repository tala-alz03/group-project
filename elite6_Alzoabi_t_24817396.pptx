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7" r:id="rId1"/>
  </p:sldMasterIdLst>
  <p:sldIdLst>
    <p:sldId id="264" r:id="rId2"/>
    <p:sldId id="269" r:id="rId3"/>
    <p:sldId id="258" r:id="rId4"/>
    <p:sldId id="265" r:id="rId5"/>
    <p:sldId id="266" r:id="rId6"/>
    <p:sldId id="267" r:id="rId7"/>
    <p:sldId id="256" r:id="rId8"/>
    <p:sldId id="263" r:id="rId9"/>
    <p:sldId id="261" r:id="rId10"/>
    <p:sldId id="268" r:id="rId11"/>
    <p:sldId id="262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507B6B-D6D5-E9FB-CC1A-C09C33F0F521}" v="897" dt="2026-04-20T19:48:51.800"/>
    <p1510:client id="{F92E9994-B382-421F-B76E-2F84F7786D93}" v="107" dt="2026-04-20T01:19:39.5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stummuac-my.sharepoint.com/personal/24825454_stu_mmu_ac_uk/Documents/Presentationproject_ColumnStack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v>Responses 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 Impact of reminders</c:v>
                </c:pt>
                <c:pt idx="1">
                  <c:v>Have missed deadlines before</c:v>
                </c:pt>
                <c:pt idx="2">
                  <c:v>Would help reduce academic stress</c:v>
                </c:pt>
                <c:pt idx="3">
                  <c:v>Would use this workspace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77-4C14-BEC5-45EC9905EC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12985935"/>
        <c:axId val="2012984975"/>
      </c:barChart>
      <c:catAx>
        <c:axId val="20129859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2984975"/>
        <c:crosses val="autoZero"/>
        <c:auto val="1"/>
        <c:lblAlgn val="ctr"/>
        <c:lblOffset val="100"/>
        <c:noMultiLvlLbl val="0"/>
      </c:catAx>
      <c:valAx>
        <c:axId val="2012984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00000"/>
              </a:solidFill>
              <a:prstDash val="solid"/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29859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1F2855-835B-4BD0-B871-F64E57C5BBE6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592F12-FF38-4425-8EC2-E56DC0F1218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Help students manage their time better </a:t>
          </a:r>
          <a:endParaRPr lang="en-US"/>
        </a:p>
      </dgm:t>
    </dgm:pt>
    <dgm:pt modelId="{AEBCDC6F-F9A5-4C0E-B3ED-639811F7740F}" type="parTrans" cxnId="{72AE1E27-7338-4167-90DF-2CC7C976DE71}">
      <dgm:prSet/>
      <dgm:spPr/>
      <dgm:t>
        <a:bodyPr/>
        <a:lstStyle/>
        <a:p>
          <a:endParaRPr lang="en-US"/>
        </a:p>
      </dgm:t>
    </dgm:pt>
    <dgm:pt modelId="{154676F0-ABFC-4BA7-BE53-322276F48603}" type="sibTrans" cxnId="{72AE1E27-7338-4167-90DF-2CC7C976DE7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7E024DA-F5C0-4954-8AF7-DDCC8604394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Allow students to set reminders for assignments,deadlines and events</a:t>
          </a:r>
          <a:endParaRPr lang="en-US"/>
        </a:p>
      </dgm:t>
    </dgm:pt>
    <dgm:pt modelId="{78BEBD57-B4B6-413B-9AA8-EA98895F9851}" type="parTrans" cxnId="{63693C43-55A4-4DFA-B8C2-89C5E336DBE5}">
      <dgm:prSet/>
      <dgm:spPr/>
      <dgm:t>
        <a:bodyPr/>
        <a:lstStyle/>
        <a:p>
          <a:endParaRPr lang="en-US"/>
        </a:p>
      </dgm:t>
    </dgm:pt>
    <dgm:pt modelId="{9CC21D13-1F94-4392-BFA5-CEAD042FC65F}" type="sibTrans" cxnId="{63693C43-55A4-4DFA-B8C2-89C5E336DBE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AE87100-044D-4214-A04F-3A7273C5412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To help students stay organised with a simple calender system</a:t>
          </a:r>
          <a:endParaRPr lang="en-US"/>
        </a:p>
      </dgm:t>
    </dgm:pt>
    <dgm:pt modelId="{E4E5BFB7-74CF-4A1B-8ACB-BFDCA9B7BA0D}" type="parTrans" cxnId="{5F99812F-B1EA-4C7C-905D-4EE5A6336ECD}">
      <dgm:prSet/>
      <dgm:spPr/>
      <dgm:t>
        <a:bodyPr/>
        <a:lstStyle/>
        <a:p>
          <a:endParaRPr lang="en-US"/>
        </a:p>
      </dgm:t>
    </dgm:pt>
    <dgm:pt modelId="{352E9D79-DE7B-42FD-8239-E2489FB074EF}" type="sibTrans" cxnId="{5F99812F-B1EA-4C7C-905D-4EE5A6336EC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4206B2A-9232-4241-B28F-D7B4636E723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To reduce stress by helping students keep track of important tasks and events </a:t>
          </a:r>
          <a:endParaRPr lang="en-US"/>
        </a:p>
      </dgm:t>
    </dgm:pt>
    <dgm:pt modelId="{EC66506F-DEF9-46F0-B03B-825A66C5B1C0}" type="parTrans" cxnId="{8BA94465-7AE7-480F-9A20-F8B7B47C1984}">
      <dgm:prSet/>
      <dgm:spPr/>
      <dgm:t>
        <a:bodyPr/>
        <a:lstStyle/>
        <a:p>
          <a:endParaRPr lang="en-US"/>
        </a:p>
      </dgm:t>
    </dgm:pt>
    <dgm:pt modelId="{2EBA3AFD-F65C-4522-939C-084CF5AAA8BA}" type="sibTrans" cxnId="{8BA94465-7AE7-480F-9A20-F8B7B47C198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6FDCC2B-DF77-4933-BD60-5ECB5FF3A72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To help students balance study time and social acitivites </a:t>
          </a:r>
          <a:endParaRPr lang="en-US"/>
        </a:p>
      </dgm:t>
    </dgm:pt>
    <dgm:pt modelId="{64FC7F62-7773-4B5E-BC79-C2BF5845B67B}" type="parTrans" cxnId="{F51BE295-BAA0-4EE4-B04D-458D4EF87A2D}">
      <dgm:prSet/>
      <dgm:spPr/>
      <dgm:t>
        <a:bodyPr/>
        <a:lstStyle/>
        <a:p>
          <a:endParaRPr lang="en-US"/>
        </a:p>
      </dgm:t>
    </dgm:pt>
    <dgm:pt modelId="{11BA4F34-3E6B-48B9-9668-F89A01FD8013}" type="sibTrans" cxnId="{F51BE295-BAA0-4EE4-B04D-458D4EF87A2D}">
      <dgm:prSet/>
      <dgm:spPr/>
      <dgm:t>
        <a:bodyPr/>
        <a:lstStyle/>
        <a:p>
          <a:endParaRPr lang="en-US"/>
        </a:p>
      </dgm:t>
    </dgm:pt>
    <dgm:pt modelId="{93E14C8E-4A16-4C5F-972D-0CA04A3D2DF0}" type="pres">
      <dgm:prSet presAssocID="{131F2855-835B-4BD0-B871-F64E57C5BBE6}" presName="root" presStyleCnt="0">
        <dgm:presLayoutVars>
          <dgm:dir/>
          <dgm:resizeHandles val="exact"/>
        </dgm:presLayoutVars>
      </dgm:prSet>
      <dgm:spPr/>
    </dgm:pt>
    <dgm:pt modelId="{56752CCF-CA46-495F-83A6-726B19DA773F}" type="pres">
      <dgm:prSet presAssocID="{38592F12-FF38-4425-8EC2-E56DC0F1218E}" presName="compNode" presStyleCnt="0"/>
      <dgm:spPr/>
    </dgm:pt>
    <dgm:pt modelId="{781B5784-EA1F-4096-B380-15E7DEE5EEDF}" type="pres">
      <dgm:prSet presAssocID="{38592F12-FF38-4425-8EC2-E56DC0F1218E}" presName="iconBgRect" presStyleLbl="bgShp" presStyleIdx="0" presStyleCnt="5"/>
      <dgm:spPr/>
    </dgm:pt>
    <dgm:pt modelId="{CAE470EB-53E3-416E-962D-81176DF096B8}" type="pres">
      <dgm:prSet presAssocID="{38592F12-FF38-4425-8EC2-E56DC0F1218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D1095F6C-74DF-4361-B95D-82E574549A85}" type="pres">
      <dgm:prSet presAssocID="{38592F12-FF38-4425-8EC2-E56DC0F1218E}" presName="spaceRect" presStyleCnt="0"/>
      <dgm:spPr/>
    </dgm:pt>
    <dgm:pt modelId="{BEB0DB63-0D13-470C-AF4F-D5EF9CB50C92}" type="pres">
      <dgm:prSet presAssocID="{38592F12-FF38-4425-8EC2-E56DC0F1218E}" presName="textRect" presStyleLbl="revTx" presStyleIdx="0" presStyleCnt="5">
        <dgm:presLayoutVars>
          <dgm:chMax val="1"/>
          <dgm:chPref val="1"/>
        </dgm:presLayoutVars>
      </dgm:prSet>
      <dgm:spPr/>
    </dgm:pt>
    <dgm:pt modelId="{CD6AE8A1-A358-4631-B184-63021BFFE7B8}" type="pres">
      <dgm:prSet presAssocID="{154676F0-ABFC-4BA7-BE53-322276F48603}" presName="sibTrans" presStyleCnt="0"/>
      <dgm:spPr/>
    </dgm:pt>
    <dgm:pt modelId="{704277B1-D8BE-403C-A45E-0AF7AEF117AB}" type="pres">
      <dgm:prSet presAssocID="{57E024DA-F5C0-4954-8AF7-DDCC86043943}" presName="compNode" presStyleCnt="0"/>
      <dgm:spPr/>
    </dgm:pt>
    <dgm:pt modelId="{919AAFE1-342A-4CF7-9A1E-43C910A6DC5E}" type="pres">
      <dgm:prSet presAssocID="{57E024DA-F5C0-4954-8AF7-DDCC86043943}" presName="iconBgRect" presStyleLbl="bgShp" presStyleIdx="1" presStyleCnt="5"/>
      <dgm:spPr/>
    </dgm:pt>
    <dgm:pt modelId="{6D32A1E1-4BC3-4D39-A92C-9BE3E396D7FB}" type="pres">
      <dgm:prSet presAssocID="{57E024DA-F5C0-4954-8AF7-DDCC86043943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AB07CA98-12C5-41AE-B381-0FDC9172BB19}" type="pres">
      <dgm:prSet presAssocID="{57E024DA-F5C0-4954-8AF7-DDCC86043943}" presName="spaceRect" presStyleCnt="0"/>
      <dgm:spPr/>
    </dgm:pt>
    <dgm:pt modelId="{5F3C744F-0C89-4929-A838-4DDA8515E07B}" type="pres">
      <dgm:prSet presAssocID="{57E024DA-F5C0-4954-8AF7-DDCC86043943}" presName="textRect" presStyleLbl="revTx" presStyleIdx="1" presStyleCnt="5">
        <dgm:presLayoutVars>
          <dgm:chMax val="1"/>
          <dgm:chPref val="1"/>
        </dgm:presLayoutVars>
      </dgm:prSet>
      <dgm:spPr/>
    </dgm:pt>
    <dgm:pt modelId="{8BA9E430-80F8-48C2-9F1A-23BC6CF385DB}" type="pres">
      <dgm:prSet presAssocID="{9CC21D13-1F94-4392-BFA5-CEAD042FC65F}" presName="sibTrans" presStyleCnt="0"/>
      <dgm:spPr/>
    </dgm:pt>
    <dgm:pt modelId="{FD6F0031-AEEA-4CE7-BBB9-675838AA1091}" type="pres">
      <dgm:prSet presAssocID="{EAE87100-044D-4214-A04F-3A7273C5412A}" presName="compNode" presStyleCnt="0"/>
      <dgm:spPr/>
    </dgm:pt>
    <dgm:pt modelId="{05222554-5CDA-495E-8C9A-B58FBDAD898D}" type="pres">
      <dgm:prSet presAssocID="{EAE87100-044D-4214-A04F-3A7273C5412A}" presName="iconBgRect" presStyleLbl="bgShp" presStyleIdx="2" presStyleCnt="5"/>
      <dgm:spPr/>
    </dgm:pt>
    <dgm:pt modelId="{FBCF1DF4-4423-474C-93D8-6C69D274C930}" type="pres">
      <dgm:prSet presAssocID="{EAE87100-044D-4214-A04F-3A7273C5412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029DF754-C3FF-4510-B0E3-DE60D441F417}" type="pres">
      <dgm:prSet presAssocID="{EAE87100-044D-4214-A04F-3A7273C5412A}" presName="spaceRect" presStyleCnt="0"/>
      <dgm:spPr/>
    </dgm:pt>
    <dgm:pt modelId="{4756C17F-2A44-41D6-B16B-5D79DC3DF9E0}" type="pres">
      <dgm:prSet presAssocID="{EAE87100-044D-4214-A04F-3A7273C5412A}" presName="textRect" presStyleLbl="revTx" presStyleIdx="2" presStyleCnt="5">
        <dgm:presLayoutVars>
          <dgm:chMax val="1"/>
          <dgm:chPref val="1"/>
        </dgm:presLayoutVars>
      </dgm:prSet>
      <dgm:spPr/>
    </dgm:pt>
    <dgm:pt modelId="{D57A6953-155F-4142-91C3-1D44ECCA393B}" type="pres">
      <dgm:prSet presAssocID="{352E9D79-DE7B-42FD-8239-E2489FB074EF}" presName="sibTrans" presStyleCnt="0"/>
      <dgm:spPr/>
    </dgm:pt>
    <dgm:pt modelId="{4106D98C-B585-47A3-AC6F-76179E8DE09E}" type="pres">
      <dgm:prSet presAssocID="{44206B2A-9232-4241-B28F-D7B4636E7233}" presName="compNode" presStyleCnt="0"/>
      <dgm:spPr/>
    </dgm:pt>
    <dgm:pt modelId="{03880E2D-5F55-43F0-9D16-3AEF458A9B0D}" type="pres">
      <dgm:prSet presAssocID="{44206B2A-9232-4241-B28F-D7B4636E7233}" presName="iconBgRect" presStyleLbl="bgShp" presStyleIdx="3" presStyleCnt="5"/>
      <dgm:spPr/>
    </dgm:pt>
    <dgm:pt modelId="{01BE5BB5-98E2-4759-97E2-F1D3791FAE2B}" type="pres">
      <dgm:prSet presAssocID="{44206B2A-9232-4241-B28F-D7B4636E723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C611C87-332E-49FB-9E55-8DB7B9E37862}" type="pres">
      <dgm:prSet presAssocID="{44206B2A-9232-4241-B28F-D7B4636E7233}" presName="spaceRect" presStyleCnt="0"/>
      <dgm:spPr/>
    </dgm:pt>
    <dgm:pt modelId="{14E14915-6E3E-4C66-9CFA-27F0FBE31354}" type="pres">
      <dgm:prSet presAssocID="{44206B2A-9232-4241-B28F-D7B4636E7233}" presName="textRect" presStyleLbl="revTx" presStyleIdx="3" presStyleCnt="5">
        <dgm:presLayoutVars>
          <dgm:chMax val="1"/>
          <dgm:chPref val="1"/>
        </dgm:presLayoutVars>
      </dgm:prSet>
      <dgm:spPr/>
    </dgm:pt>
    <dgm:pt modelId="{102E1D82-7D08-4ADD-89FE-93BB9D2A0C27}" type="pres">
      <dgm:prSet presAssocID="{2EBA3AFD-F65C-4522-939C-084CF5AAA8BA}" presName="sibTrans" presStyleCnt="0"/>
      <dgm:spPr/>
    </dgm:pt>
    <dgm:pt modelId="{FEE9DBBD-25AE-414F-A576-C687B4B812E5}" type="pres">
      <dgm:prSet presAssocID="{86FDCC2B-DF77-4933-BD60-5ECB5FF3A725}" presName="compNode" presStyleCnt="0"/>
      <dgm:spPr/>
    </dgm:pt>
    <dgm:pt modelId="{36D1CBA8-335E-465D-8496-ADFF3BD48E67}" type="pres">
      <dgm:prSet presAssocID="{86FDCC2B-DF77-4933-BD60-5ECB5FF3A725}" presName="iconBgRect" presStyleLbl="bgShp" presStyleIdx="4" presStyleCnt="5"/>
      <dgm:spPr/>
    </dgm:pt>
    <dgm:pt modelId="{A92BB5D6-CFFD-424E-9814-075DE1F66CED}" type="pres">
      <dgm:prSet presAssocID="{86FDCC2B-DF77-4933-BD60-5ECB5FF3A725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1FDC5599-11B0-4932-9E3B-7630BEDB98D9}" type="pres">
      <dgm:prSet presAssocID="{86FDCC2B-DF77-4933-BD60-5ECB5FF3A725}" presName="spaceRect" presStyleCnt="0"/>
      <dgm:spPr/>
    </dgm:pt>
    <dgm:pt modelId="{2EC89615-2829-4C13-9EDE-CC969E4D5F82}" type="pres">
      <dgm:prSet presAssocID="{86FDCC2B-DF77-4933-BD60-5ECB5FF3A72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ACB7B02-EBCC-4405-A425-6AF7BFB678E1}" type="presOf" srcId="{38592F12-FF38-4425-8EC2-E56DC0F1218E}" destId="{BEB0DB63-0D13-470C-AF4F-D5EF9CB50C92}" srcOrd="0" destOrd="0" presId="urn:microsoft.com/office/officeart/2018/5/layout/IconCircleLabelList"/>
    <dgm:cxn modelId="{42F0C221-2A22-42CF-B110-E60732A13449}" type="presOf" srcId="{86FDCC2B-DF77-4933-BD60-5ECB5FF3A725}" destId="{2EC89615-2829-4C13-9EDE-CC969E4D5F82}" srcOrd="0" destOrd="0" presId="urn:microsoft.com/office/officeart/2018/5/layout/IconCircleLabelList"/>
    <dgm:cxn modelId="{72AE1E27-7338-4167-90DF-2CC7C976DE71}" srcId="{131F2855-835B-4BD0-B871-F64E57C5BBE6}" destId="{38592F12-FF38-4425-8EC2-E56DC0F1218E}" srcOrd="0" destOrd="0" parTransId="{AEBCDC6F-F9A5-4C0E-B3ED-639811F7740F}" sibTransId="{154676F0-ABFC-4BA7-BE53-322276F48603}"/>
    <dgm:cxn modelId="{5F99812F-B1EA-4C7C-905D-4EE5A6336ECD}" srcId="{131F2855-835B-4BD0-B871-F64E57C5BBE6}" destId="{EAE87100-044D-4214-A04F-3A7273C5412A}" srcOrd="2" destOrd="0" parTransId="{E4E5BFB7-74CF-4A1B-8ACB-BFDCA9B7BA0D}" sibTransId="{352E9D79-DE7B-42FD-8239-E2489FB074EF}"/>
    <dgm:cxn modelId="{63693C43-55A4-4DFA-B8C2-89C5E336DBE5}" srcId="{131F2855-835B-4BD0-B871-F64E57C5BBE6}" destId="{57E024DA-F5C0-4954-8AF7-DDCC86043943}" srcOrd="1" destOrd="0" parTransId="{78BEBD57-B4B6-413B-9AA8-EA98895F9851}" sibTransId="{9CC21D13-1F94-4392-BFA5-CEAD042FC65F}"/>
    <dgm:cxn modelId="{8BA94465-7AE7-480F-9A20-F8B7B47C1984}" srcId="{131F2855-835B-4BD0-B871-F64E57C5BBE6}" destId="{44206B2A-9232-4241-B28F-D7B4636E7233}" srcOrd="3" destOrd="0" parTransId="{EC66506F-DEF9-46F0-B03B-825A66C5B1C0}" sibTransId="{2EBA3AFD-F65C-4522-939C-084CF5AAA8BA}"/>
    <dgm:cxn modelId="{E366945A-DA62-45BF-9736-FCDCA14BDD8D}" type="presOf" srcId="{131F2855-835B-4BD0-B871-F64E57C5BBE6}" destId="{93E14C8E-4A16-4C5F-972D-0CA04A3D2DF0}" srcOrd="0" destOrd="0" presId="urn:microsoft.com/office/officeart/2018/5/layout/IconCircleLabelList"/>
    <dgm:cxn modelId="{F51BE295-BAA0-4EE4-B04D-458D4EF87A2D}" srcId="{131F2855-835B-4BD0-B871-F64E57C5BBE6}" destId="{86FDCC2B-DF77-4933-BD60-5ECB5FF3A725}" srcOrd="4" destOrd="0" parTransId="{64FC7F62-7773-4B5E-BC79-C2BF5845B67B}" sibTransId="{11BA4F34-3E6B-48B9-9668-F89A01FD8013}"/>
    <dgm:cxn modelId="{2B91CDA3-1C74-4FA2-B8DB-F90BBD9732C2}" type="presOf" srcId="{57E024DA-F5C0-4954-8AF7-DDCC86043943}" destId="{5F3C744F-0C89-4929-A838-4DDA8515E07B}" srcOrd="0" destOrd="0" presId="urn:microsoft.com/office/officeart/2018/5/layout/IconCircleLabelList"/>
    <dgm:cxn modelId="{775968CA-0C0C-4D18-9246-CB5ACD14DFC5}" type="presOf" srcId="{44206B2A-9232-4241-B28F-D7B4636E7233}" destId="{14E14915-6E3E-4C66-9CFA-27F0FBE31354}" srcOrd="0" destOrd="0" presId="urn:microsoft.com/office/officeart/2018/5/layout/IconCircleLabelList"/>
    <dgm:cxn modelId="{6EC412D8-38F3-4B15-9546-44DBCC903E92}" type="presOf" srcId="{EAE87100-044D-4214-A04F-3A7273C5412A}" destId="{4756C17F-2A44-41D6-B16B-5D79DC3DF9E0}" srcOrd="0" destOrd="0" presId="urn:microsoft.com/office/officeart/2018/5/layout/IconCircleLabelList"/>
    <dgm:cxn modelId="{8FC119DB-3738-4138-AB3E-23754FF8F0E3}" type="presParOf" srcId="{93E14C8E-4A16-4C5F-972D-0CA04A3D2DF0}" destId="{56752CCF-CA46-495F-83A6-726B19DA773F}" srcOrd="0" destOrd="0" presId="urn:microsoft.com/office/officeart/2018/5/layout/IconCircleLabelList"/>
    <dgm:cxn modelId="{6DBAE17B-A990-46EB-8A6E-4C609EFBFA02}" type="presParOf" srcId="{56752CCF-CA46-495F-83A6-726B19DA773F}" destId="{781B5784-EA1F-4096-B380-15E7DEE5EEDF}" srcOrd="0" destOrd="0" presId="urn:microsoft.com/office/officeart/2018/5/layout/IconCircleLabelList"/>
    <dgm:cxn modelId="{93777B6B-683B-405B-A044-229C98CE714F}" type="presParOf" srcId="{56752CCF-CA46-495F-83A6-726B19DA773F}" destId="{CAE470EB-53E3-416E-962D-81176DF096B8}" srcOrd="1" destOrd="0" presId="urn:microsoft.com/office/officeart/2018/5/layout/IconCircleLabelList"/>
    <dgm:cxn modelId="{DA4C1D2A-ED9A-4034-8806-ED8058AE6423}" type="presParOf" srcId="{56752CCF-CA46-495F-83A6-726B19DA773F}" destId="{D1095F6C-74DF-4361-B95D-82E574549A85}" srcOrd="2" destOrd="0" presId="urn:microsoft.com/office/officeart/2018/5/layout/IconCircleLabelList"/>
    <dgm:cxn modelId="{F0055F53-47FD-4F28-92AA-4EEEFCD15402}" type="presParOf" srcId="{56752CCF-CA46-495F-83A6-726B19DA773F}" destId="{BEB0DB63-0D13-470C-AF4F-D5EF9CB50C92}" srcOrd="3" destOrd="0" presId="urn:microsoft.com/office/officeart/2018/5/layout/IconCircleLabelList"/>
    <dgm:cxn modelId="{F0420866-14DB-4554-8065-A90779426277}" type="presParOf" srcId="{93E14C8E-4A16-4C5F-972D-0CA04A3D2DF0}" destId="{CD6AE8A1-A358-4631-B184-63021BFFE7B8}" srcOrd="1" destOrd="0" presId="urn:microsoft.com/office/officeart/2018/5/layout/IconCircleLabelList"/>
    <dgm:cxn modelId="{F1FB7CB4-33C9-4120-A393-0117233FFE6E}" type="presParOf" srcId="{93E14C8E-4A16-4C5F-972D-0CA04A3D2DF0}" destId="{704277B1-D8BE-403C-A45E-0AF7AEF117AB}" srcOrd="2" destOrd="0" presId="urn:microsoft.com/office/officeart/2018/5/layout/IconCircleLabelList"/>
    <dgm:cxn modelId="{6E2F4B34-2CF0-4591-899C-A79BA050D318}" type="presParOf" srcId="{704277B1-D8BE-403C-A45E-0AF7AEF117AB}" destId="{919AAFE1-342A-4CF7-9A1E-43C910A6DC5E}" srcOrd="0" destOrd="0" presId="urn:microsoft.com/office/officeart/2018/5/layout/IconCircleLabelList"/>
    <dgm:cxn modelId="{8A7D6ED5-EB39-4124-904D-834BF6D27B6D}" type="presParOf" srcId="{704277B1-D8BE-403C-A45E-0AF7AEF117AB}" destId="{6D32A1E1-4BC3-4D39-A92C-9BE3E396D7FB}" srcOrd="1" destOrd="0" presId="urn:microsoft.com/office/officeart/2018/5/layout/IconCircleLabelList"/>
    <dgm:cxn modelId="{10E2EEC7-D199-41B4-B387-4B2965BB9863}" type="presParOf" srcId="{704277B1-D8BE-403C-A45E-0AF7AEF117AB}" destId="{AB07CA98-12C5-41AE-B381-0FDC9172BB19}" srcOrd="2" destOrd="0" presId="urn:microsoft.com/office/officeart/2018/5/layout/IconCircleLabelList"/>
    <dgm:cxn modelId="{7CA852F8-CFD5-48CC-99F2-BC2C2349D728}" type="presParOf" srcId="{704277B1-D8BE-403C-A45E-0AF7AEF117AB}" destId="{5F3C744F-0C89-4929-A838-4DDA8515E07B}" srcOrd="3" destOrd="0" presId="urn:microsoft.com/office/officeart/2018/5/layout/IconCircleLabelList"/>
    <dgm:cxn modelId="{3A729E07-75A3-4748-BA01-5D5BABBEC4F6}" type="presParOf" srcId="{93E14C8E-4A16-4C5F-972D-0CA04A3D2DF0}" destId="{8BA9E430-80F8-48C2-9F1A-23BC6CF385DB}" srcOrd="3" destOrd="0" presId="urn:microsoft.com/office/officeart/2018/5/layout/IconCircleLabelList"/>
    <dgm:cxn modelId="{A31C6243-6ECF-4C5C-96FE-E5CFEA675196}" type="presParOf" srcId="{93E14C8E-4A16-4C5F-972D-0CA04A3D2DF0}" destId="{FD6F0031-AEEA-4CE7-BBB9-675838AA1091}" srcOrd="4" destOrd="0" presId="urn:microsoft.com/office/officeart/2018/5/layout/IconCircleLabelList"/>
    <dgm:cxn modelId="{46F6FFC9-D78A-498B-AC07-3630F17BE4EC}" type="presParOf" srcId="{FD6F0031-AEEA-4CE7-BBB9-675838AA1091}" destId="{05222554-5CDA-495E-8C9A-B58FBDAD898D}" srcOrd="0" destOrd="0" presId="urn:microsoft.com/office/officeart/2018/5/layout/IconCircleLabelList"/>
    <dgm:cxn modelId="{DA5A2BD6-8928-48F2-A74D-CDABF1EF84B8}" type="presParOf" srcId="{FD6F0031-AEEA-4CE7-BBB9-675838AA1091}" destId="{FBCF1DF4-4423-474C-93D8-6C69D274C930}" srcOrd="1" destOrd="0" presId="urn:microsoft.com/office/officeart/2018/5/layout/IconCircleLabelList"/>
    <dgm:cxn modelId="{8C61F33D-C77A-4E30-B1C7-4737D5CDCD7B}" type="presParOf" srcId="{FD6F0031-AEEA-4CE7-BBB9-675838AA1091}" destId="{029DF754-C3FF-4510-B0E3-DE60D441F417}" srcOrd="2" destOrd="0" presId="urn:microsoft.com/office/officeart/2018/5/layout/IconCircleLabelList"/>
    <dgm:cxn modelId="{FD380A49-7566-4945-A0B0-EA10DD6BB450}" type="presParOf" srcId="{FD6F0031-AEEA-4CE7-BBB9-675838AA1091}" destId="{4756C17F-2A44-41D6-B16B-5D79DC3DF9E0}" srcOrd="3" destOrd="0" presId="urn:microsoft.com/office/officeart/2018/5/layout/IconCircleLabelList"/>
    <dgm:cxn modelId="{F4CB4698-9288-4383-BE15-DB77C445D15E}" type="presParOf" srcId="{93E14C8E-4A16-4C5F-972D-0CA04A3D2DF0}" destId="{D57A6953-155F-4142-91C3-1D44ECCA393B}" srcOrd="5" destOrd="0" presId="urn:microsoft.com/office/officeart/2018/5/layout/IconCircleLabelList"/>
    <dgm:cxn modelId="{60AF635C-74A2-4AD0-AE0E-5284ED2304C5}" type="presParOf" srcId="{93E14C8E-4A16-4C5F-972D-0CA04A3D2DF0}" destId="{4106D98C-B585-47A3-AC6F-76179E8DE09E}" srcOrd="6" destOrd="0" presId="urn:microsoft.com/office/officeart/2018/5/layout/IconCircleLabelList"/>
    <dgm:cxn modelId="{41D6EAF2-5B4A-4EEF-8AC0-FB7AEFFD35A1}" type="presParOf" srcId="{4106D98C-B585-47A3-AC6F-76179E8DE09E}" destId="{03880E2D-5F55-43F0-9D16-3AEF458A9B0D}" srcOrd="0" destOrd="0" presId="urn:microsoft.com/office/officeart/2018/5/layout/IconCircleLabelList"/>
    <dgm:cxn modelId="{04ADDACF-8F7E-4346-AB9A-33A3F2B8E2FE}" type="presParOf" srcId="{4106D98C-B585-47A3-AC6F-76179E8DE09E}" destId="{01BE5BB5-98E2-4759-97E2-F1D3791FAE2B}" srcOrd="1" destOrd="0" presId="urn:microsoft.com/office/officeart/2018/5/layout/IconCircleLabelList"/>
    <dgm:cxn modelId="{240CCDB2-4B28-41BE-9C49-6DF4F303B64E}" type="presParOf" srcId="{4106D98C-B585-47A3-AC6F-76179E8DE09E}" destId="{EC611C87-332E-49FB-9E55-8DB7B9E37862}" srcOrd="2" destOrd="0" presId="urn:microsoft.com/office/officeart/2018/5/layout/IconCircleLabelList"/>
    <dgm:cxn modelId="{B094D6A9-F1C3-4324-8441-DBC5D7BC119A}" type="presParOf" srcId="{4106D98C-B585-47A3-AC6F-76179E8DE09E}" destId="{14E14915-6E3E-4C66-9CFA-27F0FBE31354}" srcOrd="3" destOrd="0" presId="urn:microsoft.com/office/officeart/2018/5/layout/IconCircleLabelList"/>
    <dgm:cxn modelId="{E36793AA-CBE8-42A0-9A08-08C0A97D9DFB}" type="presParOf" srcId="{93E14C8E-4A16-4C5F-972D-0CA04A3D2DF0}" destId="{102E1D82-7D08-4ADD-89FE-93BB9D2A0C27}" srcOrd="7" destOrd="0" presId="urn:microsoft.com/office/officeart/2018/5/layout/IconCircleLabelList"/>
    <dgm:cxn modelId="{FFC7FAB6-6CEC-48FB-B19D-1035D80BF88B}" type="presParOf" srcId="{93E14C8E-4A16-4C5F-972D-0CA04A3D2DF0}" destId="{FEE9DBBD-25AE-414F-A576-C687B4B812E5}" srcOrd="8" destOrd="0" presId="urn:microsoft.com/office/officeart/2018/5/layout/IconCircleLabelList"/>
    <dgm:cxn modelId="{D64A6536-65A8-4CE8-AE3F-F5E66E4BF05E}" type="presParOf" srcId="{FEE9DBBD-25AE-414F-A576-C687B4B812E5}" destId="{36D1CBA8-335E-465D-8496-ADFF3BD48E67}" srcOrd="0" destOrd="0" presId="urn:microsoft.com/office/officeart/2018/5/layout/IconCircleLabelList"/>
    <dgm:cxn modelId="{C1E7D0BE-5545-4AEB-9AC3-AA73CE35C5E8}" type="presParOf" srcId="{FEE9DBBD-25AE-414F-A576-C687B4B812E5}" destId="{A92BB5D6-CFFD-424E-9814-075DE1F66CED}" srcOrd="1" destOrd="0" presId="urn:microsoft.com/office/officeart/2018/5/layout/IconCircleLabelList"/>
    <dgm:cxn modelId="{AB91A939-5ADF-4EAB-B626-7ACD67332AE6}" type="presParOf" srcId="{FEE9DBBD-25AE-414F-A576-C687B4B812E5}" destId="{1FDC5599-11B0-4932-9E3B-7630BEDB98D9}" srcOrd="2" destOrd="0" presId="urn:microsoft.com/office/officeart/2018/5/layout/IconCircleLabelList"/>
    <dgm:cxn modelId="{4C346FFD-4A9D-4DEE-85C3-F8434FEA24B9}" type="presParOf" srcId="{FEE9DBBD-25AE-414F-A576-C687B4B812E5}" destId="{2EC89615-2829-4C13-9EDE-CC969E4D5F8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67C64F-C773-4154-BFEB-44CC9698C92C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9075FC1-8B9D-4DBE-9C15-07469599BD42}">
      <dgm:prSet/>
      <dgm:spPr/>
      <dgm:t>
        <a:bodyPr/>
        <a:lstStyle/>
        <a:p>
          <a:r>
            <a:rPr lang="en-GB"/>
            <a:t>Missed deadlines and opportunities</a:t>
          </a:r>
          <a:endParaRPr lang="en-US"/>
        </a:p>
      </dgm:t>
    </dgm:pt>
    <dgm:pt modelId="{BC14DDC0-FDE9-4B65-AADD-949A6C10E319}" type="parTrans" cxnId="{34F77D1A-537C-45A7-80A2-FD0AABDA55F3}">
      <dgm:prSet/>
      <dgm:spPr/>
      <dgm:t>
        <a:bodyPr/>
        <a:lstStyle/>
        <a:p>
          <a:endParaRPr lang="en-US"/>
        </a:p>
      </dgm:t>
    </dgm:pt>
    <dgm:pt modelId="{CC2E161C-BCF8-43DF-B2C7-97D806E04E61}" type="sibTrans" cxnId="{34F77D1A-537C-45A7-80A2-FD0AABDA55F3}">
      <dgm:prSet/>
      <dgm:spPr/>
      <dgm:t>
        <a:bodyPr/>
        <a:lstStyle/>
        <a:p>
          <a:endParaRPr lang="en-US"/>
        </a:p>
      </dgm:t>
    </dgm:pt>
    <dgm:pt modelId="{D429A298-7D16-4268-84A2-72E514854092}">
      <dgm:prSet/>
      <dgm:spPr/>
      <dgm:t>
        <a:bodyPr/>
        <a:lstStyle/>
        <a:p>
          <a:r>
            <a:rPr lang="en-GB"/>
            <a:t>Poor time management and organisation</a:t>
          </a:r>
          <a:endParaRPr lang="en-US"/>
        </a:p>
      </dgm:t>
    </dgm:pt>
    <dgm:pt modelId="{4A57BB5A-E167-41E7-80EF-DA1CE6125CD5}" type="parTrans" cxnId="{53980B70-829A-4601-A3A7-631F54B8E1E4}">
      <dgm:prSet/>
      <dgm:spPr/>
      <dgm:t>
        <a:bodyPr/>
        <a:lstStyle/>
        <a:p>
          <a:endParaRPr lang="en-US"/>
        </a:p>
      </dgm:t>
    </dgm:pt>
    <dgm:pt modelId="{85935756-248A-4032-AFF7-584F2F44A066}" type="sibTrans" cxnId="{53980B70-829A-4601-A3A7-631F54B8E1E4}">
      <dgm:prSet/>
      <dgm:spPr/>
      <dgm:t>
        <a:bodyPr/>
        <a:lstStyle/>
        <a:p>
          <a:endParaRPr lang="en-US"/>
        </a:p>
      </dgm:t>
    </dgm:pt>
    <dgm:pt modelId="{CF2160F3-AE0B-4145-B004-9F2CB439CA47}">
      <dgm:prSet/>
      <dgm:spPr/>
      <dgm:t>
        <a:bodyPr/>
        <a:lstStyle/>
        <a:p>
          <a:r>
            <a:rPr lang="en-GB" dirty="0"/>
            <a:t>Student stress and lack of confidence leading to low engagement with university activities</a:t>
          </a:r>
          <a:endParaRPr lang="en-US" dirty="0"/>
        </a:p>
      </dgm:t>
    </dgm:pt>
    <dgm:pt modelId="{A0737706-5853-4199-9964-CE65A6F6CFBC}" type="parTrans" cxnId="{2650E7E1-48DB-40D3-B096-EAF00245A767}">
      <dgm:prSet/>
      <dgm:spPr/>
      <dgm:t>
        <a:bodyPr/>
        <a:lstStyle/>
        <a:p>
          <a:endParaRPr lang="en-US"/>
        </a:p>
      </dgm:t>
    </dgm:pt>
    <dgm:pt modelId="{9C2F8514-5727-4633-840C-063040DECAE4}" type="sibTrans" cxnId="{2650E7E1-48DB-40D3-B096-EAF00245A767}">
      <dgm:prSet/>
      <dgm:spPr/>
      <dgm:t>
        <a:bodyPr/>
        <a:lstStyle/>
        <a:p>
          <a:endParaRPr lang="en-US"/>
        </a:p>
      </dgm:t>
    </dgm:pt>
    <dgm:pt modelId="{9004A5A9-B633-4182-8A67-6FA28C796DD8}">
      <dgm:prSet/>
      <dgm:spPr/>
      <dgm:t>
        <a:bodyPr/>
        <a:lstStyle/>
        <a:p>
          <a:r>
            <a:rPr lang="en-GB"/>
            <a:t>Students unaware of events and support</a:t>
          </a:r>
          <a:endParaRPr lang="en-US"/>
        </a:p>
      </dgm:t>
    </dgm:pt>
    <dgm:pt modelId="{FD8A6D39-60D6-45F6-B56C-3268CC832123}" type="parTrans" cxnId="{59DDFF8E-B4B2-43F9-A909-DB03889F5E4B}">
      <dgm:prSet/>
      <dgm:spPr/>
      <dgm:t>
        <a:bodyPr/>
        <a:lstStyle/>
        <a:p>
          <a:endParaRPr lang="en-US"/>
        </a:p>
      </dgm:t>
    </dgm:pt>
    <dgm:pt modelId="{9ABD9C78-961A-4408-BCC4-EBCAEE870530}" type="sibTrans" cxnId="{59DDFF8E-B4B2-43F9-A909-DB03889F5E4B}">
      <dgm:prSet/>
      <dgm:spPr/>
      <dgm:t>
        <a:bodyPr/>
        <a:lstStyle/>
        <a:p>
          <a:endParaRPr lang="en-US"/>
        </a:p>
      </dgm:t>
    </dgm:pt>
    <dgm:pt modelId="{1598E4C8-2B31-4A23-A0A7-FCE068C71609}">
      <dgm:prSet/>
      <dgm:spPr/>
      <dgm:t>
        <a:bodyPr/>
        <a:lstStyle/>
        <a:p>
          <a:r>
            <a:rPr lang="en-GB" dirty="0"/>
            <a:t>Students using insecure third-party apps to track university schedules and personal data</a:t>
          </a:r>
        </a:p>
      </dgm:t>
    </dgm:pt>
    <dgm:pt modelId="{340002A4-AB01-4AF6-83AD-C46B66D7E8EF}" type="parTrans" cxnId="{322C1F4E-978F-4598-B886-AD07DCCAEAF0}">
      <dgm:prSet/>
      <dgm:spPr/>
      <dgm:t>
        <a:bodyPr/>
        <a:lstStyle/>
        <a:p>
          <a:endParaRPr lang="en-GB"/>
        </a:p>
      </dgm:t>
    </dgm:pt>
    <dgm:pt modelId="{A3AFADF6-4551-4612-861C-2F15F31655C2}" type="sibTrans" cxnId="{322C1F4E-978F-4598-B886-AD07DCCAEAF0}">
      <dgm:prSet/>
      <dgm:spPr/>
      <dgm:t>
        <a:bodyPr/>
        <a:lstStyle/>
        <a:p>
          <a:endParaRPr lang="en-GB"/>
        </a:p>
      </dgm:t>
    </dgm:pt>
    <dgm:pt modelId="{A178A81C-851B-4FD9-9120-3765F4871E71}" type="pres">
      <dgm:prSet presAssocID="{CB67C64F-C773-4154-BFEB-44CC9698C92C}" presName="outerComposite" presStyleCnt="0">
        <dgm:presLayoutVars>
          <dgm:chMax val="5"/>
          <dgm:dir/>
          <dgm:resizeHandles val="exact"/>
        </dgm:presLayoutVars>
      </dgm:prSet>
      <dgm:spPr/>
    </dgm:pt>
    <dgm:pt modelId="{FBEE5B91-43E5-4D68-B74F-3E2128229F38}" type="pres">
      <dgm:prSet presAssocID="{CB67C64F-C773-4154-BFEB-44CC9698C92C}" presName="dummyMaxCanvas" presStyleCnt="0">
        <dgm:presLayoutVars/>
      </dgm:prSet>
      <dgm:spPr/>
    </dgm:pt>
    <dgm:pt modelId="{2C9EF9EB-6D74-4082-9AB0-D8B368E30826}" type="pres">
      <dgm:prSet presAssocID="{CB67C64F-C773-4154-BFEB-44CC9698C92C}" presName="FiveNodes_1" presStyleLbl="node1" presStyleIdx="0" presStyleCnt="5">
        <dgm:presLayoutVars>
          <dgm:bulletEnabled val="1"/>
        </dgm:presLayoutVars>
      </dgm:prSet>
      <dgm:spPr/>
    </dgm:pt>
    <dgm:pt modelId="{D0157E48-90EF-4BA4-B40F-BC91CC4DB383}" type="pres">
      <dgm:prSet presAssocID="{CB67C64F-C773-4154-BFEB-44CC9698C92C}" presName="FiveNodes_2" presStyleLbl="node1" presStyleIdx="1" presStyleCnt="5">
        <dgm:presLayoutVars>
          <dgm:bulletEnabled val="1"/>
        </dgm:presLayoutVars>
      </dgm:prSet>
      <dgm:spPr/>
    </dgm:pt>
    <dgm:pt modelId="{E424F9C9-72F9-4C93-B552-1CB5850412EE}" type="pres">
      <dgm:prSet presAssocID="{CB67C64F-C773-4154-BFEB-44CC9698C92C}" presName="FiveNodes_3" presStyleLbl="node1" presStyleIdx="2" presStyleCnt="5">
        <dgm:presLayoutVars>
          <dgm:bulletEnabled val="1"/>
        </dgm:presLayoutVars>
      </dgm:prSet>
      <dgm:spPr/>
    </dgm:pt>
    <dgm:pt modelId="{AAAE8343-8CBB-40A7-A787-503C01408092}" type="pres">
      <dgm:prSet presAssocID="{CB67C64F-C773-4154-BFEB-44CC9698C92C}" presName="FiveNodes_4" presStyleLbl="node1" presStyleIdx="3" presStyleCnt="5">
        <dgm:presLayoutVars>
          <dgm:bulletEnabled val="1"/>
        </dgm:presLayoutVars>
      </dgm:prSet>
      <dgm:spPr/>
    </dgm:pt>
    <dgm:pt modelId="{C91C5AE1-E0BB-4314-B603-EC51F733CEC5}" type="pres">
      <dgm:prSet presAssocID="{CB67C64F-C773-4154-BFEB-44CC9698C92C}" presName="FiveNodes_5" presStyleLbl="node1" presStyleIdx="4" presStyleCnt="5">
        <dgm:presLayoutVars>
          <dgm:bulletEnabled val="1"/>
        </dgm:presLayoutVars>
      </dgm:prSet>
      <dgm:spPr/>
    </dgm:pt>
    <dgm:pt modelId="{33DDE1E8-F696-4B6E-A934-8A5548DA44E1}" type="pres">
      <dgm:prSet presAssocID="{CB67C64F-C773-4154-BFEB-44CC9698C92C}" presName="FiveConn_1-2" presStyleLbl="fgAccFollowNode1" presStyleIdx="0" presStyleCnt="4">
        <dgm:presLayoutVars>
          <dgm:bulletEnabled val="1"/>
        </dgm:presLayoutVars>
      </dgm:prSet>
      <dgm:spPr/>
    </dgm:pt>
    <dgm:pt modelId="{285408C5-735E-467C-9131-A63DFAB38A03}" type="pres">
      <dgm:prSet presAssocID="{CB67C64F-C773-4154-BFEB-44CC9698C92C}" presName="FiveConn_2-3" presStyleLbl="fgAccFollowNode1" presStyleIdx="1" presStyleCnt="4">
        <dgm:presLayoutVars>
          <dgm:bulletEnabled val="1"/>
        </dgm:presLayoutVars>
      </dgm:prSet>
      <dgm:spPr/>
    </dgm:pt>
    <dgm:pt modelId="{7378ADCA-5599-4617-8808-4500501BDF81}" type="pres">
      <dgm:prSet presAssocID="{CB67C64F-C773-4154-BFEB-44CC9698C92C}" presName="FiveConn_3-4" presStyleLbl="fgAccFollowNode1" presStyleIdx="2" presStyleCnt="4">
        <dgm:presLayoutVars>
          <dgm:bulletEnabled val="1"/>
        </dgm:presLayoutVars>
      </dgm:prSet>
      <dgm:spPr/>
    </dgm:pt>
    <dgm:pt modelId="{09372EE4-5A04-4338-ACEE-8C5598F5638E}" type="pres">
      <dgm:prSet presAssocID="{CB67C64F-C773-4154-BFEB-44CC9698C92C}" presName="FiveConn_4-5" presStyleLbl="fgAccFollowNode1" presStyleIdx="3" presStyleCnt="4">
        <dgm:presLayoutVars>
          <dgm:bulletEnabled val="1"/>
        </dgm:presLayoutVars>
      </dgm:prSet>
      <dgm:spPr/>
    </dgm:pt>
    <dgm:pt modelId="{0F904342-4775-49BA-8D59-AB35185EF4AF}" type="pres">
      <dgm:prSet presAssocID="{CB67C64F-C773-4154-BFEB-44CC9698C92C}" presName="FiveNodes_1_text" presStyleLbl="node1" presStyleIdx="4" presStyleCnt="5">
        <dgm:presLayoutVars>
          <dgm:bulletEnabled val="1"/>
        </dgm:presLayoutVars>
      </dgm:prSet>
      <dgm:spPr/>
    </dgm:pt>
    <dgm:pt modelId="{B0D1C4E2-6B64-4FBB-9E42-A11A189845BF}" type="pres">
      <dgm:prSet presAssocID="{CB67C64F-C773-4154-BFEB-44CC9698C92C}" presName="FiveNodes_2_text" presStyleLbl="node1" presStyleIdx="4" presStyleCnt="5">
        <dgm:presLayoutVars>
          <dgm:bulletEnabled val="1"/>
        </dgm:presLayoutVars>
      </dgm:prSet>
      <dgm:spPr/>
    </dgm:pt>
    <dgm:pt modelId="{BC66D620-0E7E-4879-A65E-237EA03608E7}" type="pres">
      <dgm:prSet presAssocID="{CB67C64F-C773-4154-BFEB-44CC9698C92C}" presName="FiveNodes_3_text" presStyleLbl="node1" presStyleIdx="4" presStyleCnt="5">
        <dgm:presLayoutVars>
          <dgm:bulletEnabled val="1"/>
        </dgm:presLayoutVars>
      </dgm:prSet>
      <dgm:spPr/>
    </dgm:pt>
    <dgm:pt modelId="{91944334-2AB2-4D88-9DD6-FFD41092D491}" type="pres">
      <dgm:prSet presAssocID="{CB67C64F-C773-4154-BFEB-44CC9698C92C}" presName="FiveNodes_4_text" presStyleLbl="node1" presStyleIdx="4" presStyleCnt="5">
        <dgm:presLayoutVars>
          <dgm:bulletEnabled val="1"/>
        </dgm:presLayoutVars>
      </dgm:prSet>
      <dgm:spPr/>
    </dgm:pt>
    <dgm:pt modelId="{507E90EB-DA38-4845-82D5-8C91C008A53A}" type="pres">
      <dgm:prSet presAssocID="{CB67C64F-C773-4154-BFEB-44CC9698C92C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76AB8006-503B-453D-B1B1-0C22B90C5982}" type="presOf" srcId="{CF2160F3-AE0B-4145-B004-9F2CB439CA47}" destId="{E424F9C9-72F9-4C93-B552-1CB5850412EE}" srcOrd="0" destOrd="0" presId="urn:microsoft.com/office/officeart/2005/8/layout/vProcess5"/>
    <dgm:cxn modelId="{E7972A0B-15BD-47C0-88B2-C565EAB9C653}" type="presOf" srcId="{9C2F8514-5727-4633-840C-063040DECAE4}" destId="{7378ADCA-5599-4617-8808-4500501BDF81}" srcOrd="0" destOrd="0" presId="urn:microsoft.com/office/officeart/2005/8/layout/vProcess5"/>
    <dgm:cxn modelId="{0EDCBE0B-A6F0-4BF0-BFA6-DA7523C923C2}" type="presOf" srcId="{D429A298-7D16-4268-84A2-72E514854092}" destId="{B0D1C4E2-6B64-4FBB-9E42-A11A189845BF}" srcOrd="1" destOrd="0" presId="urn:microsoft.com/office/officeart/2005/8/layout/vProcess5"/>
    <dgm:cxn modelId="{0D392A14-94B2-450A-BFFF-AD048DF2A2F6}" type="presOf" srcId="{85935756-248A-4032-AFF7-584F2F44A066}" destId="{285408C5-735E-467C-9131-A63DFAB38A03}" srcOrd="0" destOrd="0" presId="urn:microsoft.com/office/officeart/2005/8/layout/vProcess5"/>
    <dgm:cxn modelId="{493BCA17-A070-4AEC-8521-7A05A148D418}" type="presOf" srcId="{B9075FC1-8B9D-4DBE-9C15-07469599BD42}" destId="{2C9EF9EB-6D74-4082-9AB0-D8B368E30826}" srcOrd="0" destOrd="0" presId="urn:microsoft.com/office/officeart/2005/8/layout/vProcess5"/>
    <dgm:cxn modelId="{34F77D1A-537C-45A7-80A2-FD0AABDA55F3}" srcId="{CB67C64F-C773-4154-BFEB-44CC9698C92C}" destId="{B9075FC1-8B9D-4DBE-9C15-07469599BD42}" srcOrd="0" destOrd="0" parTransId="{BC14DDC0-FDE9-4B65-AADD-949A6C10E319}" sibTransId="{CC2E161C-BCF8-43DF-B2C7-97D806E04E61}"/>
    <dgm:cxn modelId="{FD876324-68E5-4129-925F-2FA8E3E6720B}" type="presOf" srcId="{CF2160F3-AE0B-4145-B004-9F2CB439CA47}" destId="{BC66D620-0E7E-4879-A65E-237EA03608E7}" srcOrd="1" destOrd="0" presId="urn:microsoft.com/office/officeart/2005/8/layout/vProcess5"/>
    <dgm:cxn modelId="{C789E367-A38E-4FA0-B0F7-FCFE6C182211}" type="presOf" srcId="{CC2E161C-BCF8-43DF-B2C7-97D806E04E61}" destId="{33DDE1E8-F696-4B6E-A934-8A5548DA44E1}" srcOrd="0" destOrd="0" presId="urn:microsoft.com/office/officeart/2005/8/layout/vProcess5"/>
    <dgm:cxn modelId="{322C1F4E-978F-4598-B886-AD07DCCAEAF0}" srcId="{CB67C64F-C773-4154-BFEB-44CC9698C92C}" destId="{1598E4C8-2B31-4A23-A0A7-FCE068C71609}" srcOrd="4" destOrd="0" parTransId="{340002A4-AB01-4AF6-83AD-C46B66D7E8EF}" sibTransId="{A3AFADF6-4551-4612-861C-2F15F31655C2}"/>
    <dgm:cxn modelId="{53980B70-829A-4601-A3A7-631F54B8E1E4}" srcId="{CB67C64F-C773-4154-BFEB-44CC9698C92C}" destId="{D429A298-7D16-4268-84A2-72E514854092}" srcOrd="1" destOrd="0" parTransId="{4A57BB5A-E167-41E7-80EF-DA1CE6125CD5}" sibTransId="{85935756-248A-4032-AFF7-584F2F44A066}"/>
    <dgm:cxn modelId="{24ACEE81-F72C-4FEE-8109-4B8646C5E2FE}" type="presOf" srcId="{9004A5A9-B633-4182-8A67-6FA28C796DD8}" destId="{AAAE8343-8CBB-40A7-A787-503C01408092}" srcOrd="0" destOrd="0" presId="urn:microsoft.com/office/officeart/2005/8/layout/vProcess5"/>
    <dgm:cxn modelId="{59DDFF8E-B4B2-43F9-A909-DB03889F5E4B}" srcId="{CB67C64F-C773-4154-BFEB-44CC9698C92C}" destId="{9004A5A9-B633-4182-8A67-6FA28C796DD8}" srcOrd="3" destOrd="0" parTransId="{FD8A6D39-60D6-45F6-B56C-3268CC832123}" sibTransId="{9ABD9C78-961A-4408-BCC4-EBCAEE870530}"/>
    <dgm:cxn modelId="{5E616597-538E-479F-9200-B384E7FD117B}" type="presOf" srcId="{9ABD9C78-961A-4408-BCC4-EBCAEE870530}" destId="{09372EE4-5A04-4338-ACEE-8C5598F5638E}" srcOrd="0" destOrd="0" presId="urn:microsoft.com/office/officeart/2005/8/layout/vProcess5"/>
    <dgm:cxn modelId="{CFE0C49D-3971-4C79-9B3D-A79CDCDF46D1}" type="presOf" srcId="{1598E4C8-2B31-4A23-A0A7-FCE068C71609}" destId="{C91C5AE1-E0BB-4314-B603-EC51F733CEC5}" srcOrd="0" destOrd="0" presId="urn:microsoft.com/office/officeart/2005/8/layout/vProcess5"/>
    <dgm:cxn modelId="{D3C56CA9-8531-42D0-A81C-9DD402EE9852}" type="presOf" srcId="{D429A298-7D16-4268-84A2-72E514854092}" destId="{D0157E48-90EF-4BA4-B40F-BC91CC4DB383}" srcOrd="0" destOrd="0" presId="urn:microsoft.com/office/officeart/2005/8/layout/vProcess5"/>
    <dgm:cxn modelId="{4E2D55C9-6131-470B-BA9F-8360D464F7C6}" type="presOf" srcId="{1598E4C8-2B31-4A23-A0A7-FCE068C71609}" destId="{507E90EB-DA38-4845-82D5-8C91C008A53A}" srcOrd="1" destOrd="0" presId="urn:microsoft.com/office/officeart/2005/8/layout/vProcess5"/>
    <dgm:cxn modelId="{60F1F8DE-86A8-473F-BDC8-C03739FAFA6C}" type="presOf" srcId="{B9075FC1-8B9D-4DBE-9C15-07469599BD42}" destId="{0F904342-4775-49BA-8D59-AB35185EF4AF}" srcOrd="1" destOrd="0" presId="urn:microsoft.com/office/officeart/2005/8/layout/vProcess5"/>
    <dgm:cxn modelId="{2650E7E1-48DB-40D3-B096-EAF00245A767}" srcId="{CB67C64F-C773-4154-BFEB-44CC9698C92C}" destId="{CF2160F3-AE0B-4145-B004-9F2CB439CA47}" srcOrd="2" destOrd="0" parTransId="{A0737706-5853-4199-9964-CE65A6F6CFBC}" sibTransId="{9C2F8514-5727-4633-840C-063040DECAE4}"/>
    <dgm:cxn modelId="{B6D9D4E7-4398-4CC4-A7FD-D7A8DD5810D3}" type="presOf" srcId="{9004A5A9-B633-4182-8A67-6FA28C796DD8}" destId="{91944334-2AB2-4D88-9DD6-FFD41092D491}" srcOrd="1" destOrd="0" presId="urn:microsoft.com/office/officeart/2005/8/layout/vProcess5"/>
    <dgm:cxn modelId="{0E547CF4-81F1-4D7D-AD0E-BEAB5E4D63B5}" type="presOf" srcId="{CB67C64F-C773-4154-BFEB-44CC9698C92C}" destId="{A178A81C-851B-4FD9-9120-3765F4871E71}" srcOrd="0" destOrd="0" presId="urn:microsoft.com/office/officeart/2005/8/layout/vProcess5"/>
    <dgm:cxn modelId="{E26E637A-FACB-415B-94DB-7E2EBD1E4215}" type="presParOf" srcId="{A178A81C-851B-4FD9-9120-3765F4871E71}" destId="{FBEE5B91-43E5-4D68-B74F-3E2128229F38}" srcOrd="0" destOrd="0" presId="urn:microsoft.com/office/officeart/2005/8/layout/vProcess5"/>
    <dgm:cxn modelId="{79AA9E23-7143-4F44-AB9D-ACBDD98844FE}" type="presParOf" srcId="{A178A81C-851B-4FD9-9120-3765F4871E71}" destId="{2C9EF9EB-6D74-4082-9AB0-D8B368E30826}" srcOrd="1" destOrd="0" presId="urn:microsoft.com/office/officeart/2005/8/layout/vProcess5"/>
    <dgm:cxn modelId="{88CA30C0-FB24-46F5-A23E-605D989F740E}" type="presParOf" srcId="{A178A81C-851B-4FD9-9120-3765F4871E71}" destId="{D0157E48-90EF-4BA4-B40F-BC91CC4DB383}" srcOrd="2" destOrd="0" presId="urn:microsoft.com/office/officeart/2005/8/layout/vProcess5"/>
    <dgm:cxn modelId="{C972242E-C689-4DBB-90F2-0EF21A06A139}" type="presParOf" srcId="{A178A81C-851B-4FD9-9120-3765F4871E71}" destId="{E424F9C9-72F9-4C93-B552-1CB5850412EE}" srcOrd="3" destOrd="0" presId="urn:microsoft.com/office/officeart/2005/8/layout/vProcess5"/>
    <dgm:cxn modelId="{56D2C413-0F54-451D-BC34-DC06F3399AA6}" type="presParOf" srcId="{A178A81C-851B-4FD9-9120-3765F4871E71}" destId="{AAAE8343-8CBB-40A7-A787-503C01408092}" srcOrd="4" destOrd="0" presId="urn:microsoft.com/office/officeart/2005/8/layout/vProcess5"/>
    <dgm:cxn modelId="{09E68C0C-2FCB-4B53-9FC4-3C212A1231F8}" type="presParOf" srcId="{A178A81C-851B-4FD9-9120-3765F4871E71}" destId="{C91C5AE1-E0BB-4314-B603-EC51F733CEC5}" srcOrd="5" destOrd="0" presId="urn:microsoft.com/office/officeart/2005/8/layout/vProcess5"/>
    <dgm:cxn modelId="{49BB16F2-5A05-483F-A9EF-38D4FD543508}" type="presParOf" srcId="{A178A81C-851B-4FD9-9120-3765F4871E71}" destId="{33DDE1E8-F696-4B6E-A934-8A5548DA44E1}" srcOrd="6" destOrd="0" presId="urn:microsoft.com/office/officeart/2005/8/layout/vProcess5"/>
    <dgm:cxn modelId="{953C73E1-1E42-4899-BA72-66B01B54CF7A}" type="presParOf" srcId="{A178A81C-851B-4FD9-9120-3765F4871E71}" destId="{285408C5-735E-467C-9131-A63DFAB38A03}" srcOrd="7" destOrd="0" presId="urn:microsoft.com/office/officeart/2005/8/layout/vProcess5"/>
    <dgm:cxn modelId="{80F958BC-AE2C-4A86-9C03-A528B452AE1F}" type="presParOf" srcId="{A178A81C-851B-4FD9-9120-3765F4871E71}" destId="{7378ADCA-5599-4617-8808-4500501BDF81}" srcOrd="8" destOrd="0" presId="urn:microsoft.com/office/officeart/2005/8/layout/vProcess5"/>
    <dgm:cxn modelId="{9DDF2CC9-9C70-4E91-8ACA-5658E5D2E497}" type="presParOf" srcId="{A178A81C-851B-4FD9-9120-3765F4871E71}" destId="{09372EE4-5A04-4338-ACEE-8C5598F5638E}" srcOrd="9" destOrd="0" presId="urn:microsoft.com/office/officeart/2005/8/layout/vProcess5"/>
    <dgm:cxn modelId="{90B12E60-B408-4748-87F6-70A48358FD11}" type="presParOf" srcId="{A178A81C-851B-4FD9-9120-3765F4871E71}" destId="{0F904342-4775-49BA-8D59-AB35185EF4AF}" srcOrd="10" destOrd="0" presId="urn:microsoft.com/office/officeart/2005/8/layout/vProcess5"/>
    <dgm:cxn modelId="{E7F82F06-8C7E-4E4B-8F10-E07EB178B799}" type="presParOf" srcId="{A178A81C-851B-4FD9-9120-3765F4871E71}" destId="{B0D1C4E2-6B64-4FBB-9E42-A11A189845BF}" srcOrd="11" destOrd="0" presId="urn:microsoft.com/office/officeart/2005/8/layout/vProcess5"/>
    <dgm:cxn modelId="{9DF233B9-0B4E-4958-81C2-06F28F791485}" type="presParOf" srcId="{A178A81C-851B-4FD9-9120-3765F4871E71}" destId="{BC66D620-0E7E-4879-A65E-237EA03608E7}" srcOrd="12" destOrd="0" presId="urn:microsoft.com/office/officeart/2005/8/layout/vProcess5"/>
    <dgm:cxn modelId="{FABC45DA-D1CD-412C-B8AF-F63EE756471F}" type="presParOf" srcId="{A178A81C-851B-4FD9-9120-3765F4871E71}" destId="{91944334-2AB2-4D88-9DD6-FFD41092D491}" srcOrd="13" destOrd="0" presId="urn:microsoft.com/office/officeart/2005/8/layout/vProcess5"/>
    <dgm:cxn modelId="{BB8F3BC7-7747-4D2E-90E8-BCBCA6B8ABC5}" type="presParOf" srcId="{A178A81C-851B-4FD9-9120-3765F4871E71}" destId="{507E90EB-DA38-4845-82D5-8C91C008A53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A137DF-4EC7-4361-92D2-0AF4E3F32E70}" type="doc">
      <dgm:prSet loTypeId="urn:microsoft.com/office/officeart/2005/8/layout/vList2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8D1FB986-4834-4705-834F-BF204F17F295}">
      <dgm:prSet/>
      <dgm:spPr/>
      <dgm:t>
        <a:bodyPr/>
        <a:lstStyle/>
        <a:p>
          <a:r>
            <a:rPr lang="en-GB"/>
            <a:t>Held weekly meetings to track progress and plan next steps</a:t>
          </a:r>
          <a:endParaRPr lang="en-US"/>
        </a:p>
      </dgm:t>
    </dgm:pt>
    <dgm:pt modelId="{C7D465C6-0EEE-46D3-B5E8-72703DFE1523}" type="parTrans" cxnId="{6A4847EE-DFAE-48A2-9547-9C35387193C3}">
      <dgm:prSet/>
      <dgm:spPr/>
      <dgm:t>
        <a:bodyPr/>
        <a:lstStyle/>
        <a:p>
          <a:endParaRPr lang="en-US"/>
        </a:p>
      </dgm:t>
    </dgm:pt>
    <dgm:pt modelId="{1C3979B2-993B-479B-879A-BFC1DE64FD0E}" type="sibTrans" cxnId="{6A4847EE-DFAE-48A2-9547-9C35387193C3}">
      <dgm:prSet/>
      <dgm:spPr/>
      <dgm:t>
        <a:bodyPr/>
        <a:lstStyle/>
        <a:p>
          <a:endParaRPr lang="en-US"/>
        </a:p>
      </dgm:t>
    </dgm:pt>
    <dgm:pt modelId="{1D94C353-6B71-418E-ACB9-B1E4B75A4123}">
      <dgm:prSet/>
      <dgm:spPr/>
      <dgm:t>
        <a:bodyPr/>
        <a:lstStyle/>
        <a:p>
          <a:r>
            <a:rPr lang="en-GB"/>
            <a:t>Task were divided based on individual strengths and roles</a:t>
          </a:r>
          <a:endParaRPr lang="en-US"/>
        </a:p>
      </dgm:t>
    </dgm:pt>
    <dgm:pt modelId="{AEF0B4EA-3299-46D7-BC80-A9EA0DB9C4F2}" type="parTrans" cxnId="{8CFBDD9C-8281-41E6-8EF9-E29BA2BCB551}">
      <dgm:prSet/>
      <dgm:spPr/>
      <dgm:t>
        <a:bodyPr/>
        <a:lstStyle/>
        <a:p>
          <a:endParaRPr lang="en-US"/>
        </a:p>
      </dgm:t>
    </dgm:pt>
    <dgm:pt modelId="{D69DC701-F87E-4BFA-B72F-73D1910B8644}" type="sibTrans" cxnId="{8CFBDD9C-8281-41E6-8EF9-E29BA2BCB551}">
      <dgm:prSet/>
      <dgm:spPr/>
      <dgm:t>
        <a:bodyPr/>
        <a:lstStyle/>
        <a:p>
          <a:endParaRPr lang="en-US"/>
        </a:p>
      </dgm:t>
    </dgm:pt>
    <dgm:pt modelId="{129BC155-F83F-4218-B258-A78421D0E361}">
      <dgm:prSet/>
      <dgm:spPr/>
      <dgm:t>
        <a:bodyPr/>
        <a:lstStyle/>
        <a:p>
          <a:r>
            <a:rPr lang="en-GB"/>
            <a:t>Used group chats for better communication</a:t>
          </a:r>
          <a:endParaRPr lang="en-US"/>
        </a:p>
      </dgm:t>
    </dgm:pt>
    <dgm:pt modelId="{4552E875-BFAA-4C72-AEBF-5936035923C4}" type="parTrans" cxnId="{C70DED42-CFD0-490D-94FB-FBF88ED2DD85}">
      <dgm:prSet/>
      <dgm:spPr/>
      <dgm:t>
        <a:bodyPr/>
        <a:lstStyle/>
        <a:p>
          <a:endParaRPr lang="en-US"/>
        </a:p>
      </dgm:t>
    </dgm:pt>
    <dgm:pt modelId="{7D874494-7EE1-42D4-94A0-1AD6E7CAD8B7}" type="sibTrans" cxnId="{C70DED42-CFD0-490D-94FB-FBF88ED2DD85}">
      <dgm:prSet/>
      <dgm:spPr/>
      <dgm:t>
        <a:bodyPr/>
        <a:lstStyle/>
        <a:p>
          <a:endParaRPr lang="en-US"/>
        </a:p>
      </dgm:t>
    </dgm:pt>
    <dgm:pt modelId="{B74EA657-6D75-48DB-832F-93DD7FB7A39C}">
      <dgm:prSet/>
      <dgm:spPr/>
      <dgm:t>
        <a:bodyPr/>
        <a:lstStyle/>
        <a:p>
          <a:r>
            <a:rPr lang="en-GB"/>
            <a:t>Used Trello board to organise tasks and track the process</a:t>
          </a:r>
          <a:endParaRPr lang="en-US"/>
        </a:p>
      </dgm:t>
    </dgm:pt>
    <dgm:pt modelId="{A7D934F2-6089-4E57-85D3-5DA1FE123228}" type="parTrans" cxnId="{ACA9C5A7-CACC-47F2-A2FE-F372E236CAAB}">
      <dgm:prSet/>
      <dgm:spPr/>
      <dgm:t>
        <a:bodyPr/>
        <a:lstStyle/>
        <a:p>
          <a:endParaRPr lang="en-US"/>
        </a:p>
      </dgm:t>
    </dgm:pt>
    <dgm:pt modelId="{30F2026C-3FF6-470A-BF09-3224C4A2B223}" type="sibTrans" cxnId="{ACA9C5A7-CACC-47F2-A2FE-F372E236CAAB}">
      <dgm:prSet/>
      <dgm:spPr/>
      <dgm:t>
        <a:bodyPr/>
        <a:lstStyle/>
        <a:p>
          <a:endParaRPr lang="en-US"/>
        </a:p>
      </dgm:t>
    </dgm:pt>
    <dgm:pt modelId="{ABF143DC-7A3E-4DE3-A409-5861B9E19893}">
      <dgm:prSet/>
      <dgm:spPr/>
      <dgm:t>
        <a:bodyPr/>
        <a:lstStyle/>
        <a:p>
          <a:r>
            <a:rPr lang="en-GB"/>
            <a:t>Used GitHub to manage and share code collaboratively</a:t>
          </a:r>
          <a:endParaRPr lang="en-US"/>
        </a:p>
      </dgm:t>
    </dgm:pt>
    <dgm:pt modelId="{9E09A957-001B-4F9A-86C8-E3C960048DED}" type="parTrans" cxnId="{A1AB2381-0554-443B-9EF5-852B5F6FAE7D}">
      <dgm:prSet/>
      <dgm:spPr/>
      <dgm:t>
        <a:bodyPr/>
        <a:lstStyle/>
        <a:p>
          <a:endParaRPr lang="en-US"/>
        </a:p>
      </dgm:t>
    </dgm:pt>
    <dgm:pt modelId="{9C0347B9-93AA-4611-B3BD-3CB0D912FA54}" type="sibTrans" cxnId="{A1AB2381-0554-443B-9EF5-852B5F6FAE7D}">
      <dgm:prSet/>
      <dgm:spPr/>
      <dgm:t>
        <a:bodyPr/>
        <a:lstStyle/>
        <a:p>
          <a:endParaRPr lang="en-US"/>
        </a:p>
      </dgm:t>
    </dgm:pt>
    <dgm:pt modelId="{C0836A2A-CB5A-475B-8B1B-7023D12C920C}" type="pres">
      <dgm:prSet presAssocID="{DAA137DF-4EC7-4361-92D2-0AF4E3F32E70}" presName="linear" presStyleCnt="0">
        <dgm:presLayoutVars>
          <dgm:animLvl val="lvl"/>
          <dgm:resizeHandles val="exact"/>
        </dgm:presLayoutVars>
      </dgm:prSet>
      <dgm:spPr/>
    </dgm:pt>
    <dgm:pt modelId="{D84CC2F1-2756-4751-A916-5C3A67CAD413}" type="pres">
      <dgm:prSet presAssocID="{8D1FB986-4834-4705-834F-BF204F17F29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B4F16DA-21A7-45A7-B123-230A3EF05A40}" type="pres">
      <dgm:prSet presAssocID="{1C3979B2-993B-479B-879A-BFC1DE64FD0E}" presName="spacer" presStyleCnt="0"/>
      <dgm:spPr/>
    </dgm:pt>
    <dgm:pt modelId="{0034CE25-10D2-44AA-B584-292620387D42}" type="pres">
      <dgm:prSet presAssocID="{1D94C353-6B71-418E-ACB9-B1E4B75A412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7E9D3AA-EF16-4766-804C-957E5772748E}" type="pres">
      <dgm:prSet presAssocID="{D69DC701-F87E-4BFA-B72F-73D1910B8644}" presName="spacer" presStyleCnt="0"/>
      <dgm:spPr/>
    </dgm:pt>
    <dgm:pt modelId="{2A176975-0534-481E-AA20-611150706785}" type="pres">
      <dgm:prSet presAssocID="{129BC155-F83F-4218-B258-A78421D0E36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7D658C8-7165-47E3-84EB-CF55574BF242}" type="pres">
      <dgm:prSet presAssocID="{7D874494-7EE1-42D4-94A0-1AD6E7CAD8B7}" presName="spacer" presStyleCnt="0"/>
      <dgm:spPr/>
    </dgm:pt>
    <dgm:pt modelId="{F6209BB8-06AC-4EBD-B4A8-CB9DA73283B9}" type="pres">
      <dgm:prSet presAssocID="{B74EA657-6D75-48DB-832F-93DD7FB7A39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9DB159C-0943-4B6B-919A-31DA8118F9ED}" type="pres">
      <dgm:prSet presAssocID="{30F2026C-3FF6-470A-BF09-3224C4A2B223}" presName="spacer" presStyleCnt="0"/>
      <dgm:spPr/>
    </dgm:pt>
    <dgm:pt modelId="{E3766267-3601-4FBD-AE10-6706F1BCBC14}" type="pres">
      <dgm:prSet presAssocID="{ABF143DC-7A3E-4DE3-A409-5861B9E1989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E902D03-66C0-44A2-A3E0-214F0A68AAB7}" type="presOf" srcId="{ABF143DC-7A3E-4DE3-A409-5861B9E19893}" destId="{E3766267-3601-4FBD-AE10-6706F1BCBC14}" srcOrd="0" destOrd="0" presId="urn:microsoft.com/office/officeart/2005/8/layout/vList2"/>
    <dgm:cxn modelId="{578F1605-3278-41E8-868D-A74CC24C9B46}" type="presOf" srcId="{DAA137DF-4EC7-4361-92D2-0AF4E3F32E70}" destId="{C0836A2A-CB5A-475B-8B1B-7023D12C920C}" srcOrd="0" destOrd="0" presId="urn:microsoft.com/office/officeart/2005/8/layout/vList2"/>
    <dgm:cxn modelId="{C70DED42-CFD0-490D-94FB-FBF88ED2DD85}" srcId="{DAA137DF-4EC7-4361-92D2-0AF4E3F32E70}" destId="{129BC155-F83F-4218-B258-A78421D0E361}" srcOrd="2" destOrd="0" parTransId="{4552E875-BFAA-4C72-AEBF-5936035923C4}" sibTransId="{7D874494-7EE1-42D4-94A0-1AD6E7CAD8B7}"/>
    <dgm:cxn modelId="{A1AB2381-0554-443B-9EF5-852B5F6FAE7D}" srcId="{DAA137DF-4EC7-4361-92D2-0AF4E3F32E70}" destId="{ABF143DC-7A3E-4DE3-A409-5861B9E19893}" srcOrd="4" destOrd="0" parTransId="{9E09A957-001B-4F9A-86C8-E3C960048DED}" sibTransId="{9C0347B9-93AA-4611-B3BD-3CB0D912FA54}"/>
    <dgm:cxn modelId="{804E3991-70C3-43E5-A7D5-A2122998BB3F}" type="presOf" srcId="{1D94C353-6B71-418E-ACB9-B1E4B75A4123}" destId="{0034CE25-10D2-44AA-B584-292620387D42}" srcOrd="0" destOrd="0" presId="urn:microsoft.com/office/officeart/2005/8/layout/vList2"/>
    <dgm:cxn modelId="{862C3B98-825E-4401-9800-DA2902D4E922}" type="presOf" srcId="{129BC155-F83F-4218-B258-A78421D0E361}" destId="{2A176975-0534-481E-AA20-611150706785}" srcOrd="0" destOrd="0" presId="urn:microsoft.com/office/officeart/2005/8/layout/vList2"/>
    <dgm:cxn modelId="{8CFBDD9C-8281-41E6-8EF9-E29BA2BCB551}" srcId="{DAA137DF-4EC7-4361-92D2-0AF4E3F32E70}" destId="{1D94C353-6B71-418E-ACB9-B1E4B75A4123}" srcOrd="1" destOrd="0" parTransId="{AEF0B4EA-3299-46D7-BC80-A9EA0DB9C4F2}" sibTransId="{D69DC701-F87E-4BFA-B72F-73D1910B8644}"/>
    <dgm:cxn modelId="{ACA9C5A7-CACC-47F2-A2FE-F372E236CAAB}" srcId="{DAA137DF-4EC7-4361-92D2-0AF4E3F32E70}" destId="{B74EA657-6D75-48DB-832F-93DD7FB7A39C}" srcOrd="3" destOrd="0" parTransId="{A7D934F2-6089-4E57-85D3-5DA1FE123228}" sibTransId="{30F2026C-3FF6-470A-BF09-3224C4A2B223}"/>
    <dgm:cxn modelId="{93C387B1-7254-4B9C-AB78-2672C2A9AC4A}" type="presOf" srcId="{B74EA657-6D75-48DB-832F-93DD7FB7A39C}" destId="{F6209BB8-06AC-4EBD-B4A8-CB9DA73283B9}" srcOrd="0" destOrd="0" presId="urn:microsoft.com/office/officeart/2005/8/layout/vList2"/>
    <dgm:cxn modelId="{890AE1E7-0D4F-4D63-8A8C-7369FA75AD69}" type="presOf" srcId="{8D1FB986-4834-4705-834F-BF204F17F295}" destId="{D84CC2F1-2756-4751-A916-5C3A67CAD413}" srcOrd="0" destOrd="0" presId="urn:microsoft.com/office/officeart/2005/8/layout/vList2"/>
    <dgm:cxn modelId="{6A4847EE-DFAE-48A2-9547-9C35387193C3}" srcId="{DAA137DF-4EC7-4361-92D2-0AF4E3F32E70}" destId="{8D1FB986-4834-4705-834F-BF204F17F295}" srcOrd="0" destOrd="0" parTransId="{C7D465C6-0EEE-46D3-B5E8-72703DFE1523}" sibTransId="{1C3979B2-993B-479B-879A-BFC1DE64FD0E}"/>
    <dgm:cxn modelId="{8BF98F15-02BB-4B45-A966-F47E572B8B21}" type="presParOf" srcId="{C0836A2A-CB5A-475B-8B1B-7023D12C920C}" destId="{D84CC2F1-2756-4751-A916-5C3A67CAD413}" srcOrd="0" destOrd="0" presId="urn:microsoft.com/office/officeart/2005/8/layout/vList2"/>
    <dgm:cxn modelId="{5595A7F5-B224-4EE8-8DCC-7CA616E710E2}" type="presParOf" srcId="{C0836A2A-CB5A-475B-8B1B-7023D12C920C}" destId="{2B4F16DA-21A7-45A7-B123-230A3EF05A40}" srcOrd="1" destOrd="0" presId="urn:microsoft.com/office/officeart/2005/8/layout/vList2"/>
    <dgm:cxn modelId="{17FF765D-93FC-4A56-965F-9C446BAECBD9}" type="presParOf" srcId="{C0836A2A-CB5A-475B-8B1B-7023D12C920C}" destId="{0034CE25-10D2-44AA-B584-292620387D42}" srcOrd="2" destOrd="0" presId="urn:microsoft.com/office/officeart/2005/8/layout/vList2"/>
    <dgm:cxn modelId="{CABEA4DF-3284-45B1-956D-A3C529E5A1F7}" type="presParOf" srcId="{C0836A2A-CB5A-475B-8B1B-7023D12C920C}" destId="{D7E9D3AA-EF16-4766-804C-957E5772748E}" srcOrd="3" destOrd="0" presId="urn:microsoft.com/office/officeart/2005/8/layout/vList2"/>
    <dgm:cxn modelId="{DAA37D45-78D6-46D7-A2C3-58F32AEC7326}" type="presParOf" srcId="{C0836A2A-CB5A-475B-8B1B-7023D12C920C}" destId="{2A176975-0534-481E-AA20-611150706785}" srcOrd="4" destOrd="0" presId="urn:microsoft.com/office/officeart/2005/8/layout/vList2"/>
    <dgm:cxn modelId="{118FD2C3-8C47-4505-8AB1-E80EEC87228E}" type="presParOf" srcId="{C0836A2A-CB5A-475B-8B1B-7023D12C920C}" destId="{E7D658C8-7165-47E3-84EB-CF55574BF242}" srcOrd="5" destOrd="0" presId="urn:microsoft.com/office/officeart/2005/8/layout/vList2"/>
    <dgm:cxn modelId="{2B439C71-657A-4C04-BF5A-19BA7B56CEB8}" type="presParOf" srcId="{C0836A2A-CB5A-475B-8B1B-7023D12C920C}" destId="{F6209BB8-06AC-4EBD-B4A8-CB9DA73283B9}" srcOrd="6" destOrd="0" presId="urn:microsoft.com/office/officeart/2005/8/layout/vList2"/>
    <dgm:cxn modelId="{B495E4C1-9A4B-4482-9FBF-D1996FE05E2A}" type="presParOf" srcId="{C0836A2A-CB5A-475B-8B1B-7023D12C920C}" destId="{C9DB159C-0943-4B6B-919A-31DA8118F9ED}" srcOrd="7" destOrd="0" presId="urn:microsoft.com/office/officeart/2005/8/layout/vList2"/>
    <dgm:cxn modelId="{95024C16-33E7-469F-A818-6BDA621509F0}" type="presParOf" srcId="{C0836A2A-CB5A-475B-8B1B-7023D12C920C}" destId="{E3766267-3601-4FBD-AE10-6706F1BCBC1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1B5784-EA1F-4096-B380-15E7DEE5EEDF}">
      <dsp:nvSpPr>
        <dsp:cNvPr id="0" name=""/>
        <dsp:cNvSpPr/>
      </dsp:nvSpPr>
      <dsp:spPr>
        <a:xfrm>
          <a:off x="1159251" y="1347"/>
          <a:ext cx="925365" cy="92536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E470EB-53E3-416E-962D-81176DF096B8}">
      <dsp:nvSpPr>
        <dsp:cNvPr id="0" name=""/>
        <dsp:cNvSpPr/>
      </dsp:nvSpPr>
      <dsp:spPr>
        <a:xfrm>
          <a:off x="1356460" y="198556"/>
          <a:ext cx="530947" cy="5309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0DB63-0D13-470C-AF4F-D5EF9CB50C92}">
      <dsp:nvSpPr>
        <dsp:cNvPr id="0" name=""/>
        <dsp:cNvSpPr/>
      </dsp:nvSpPr>
      <dsp:spPr>
        <a:xfrm>
          <a:off x="863438" y="1214941"/>
          <a:ext cx="1516992" cy="60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Help students manage their time better </a:t>
          </a:r>
          <a:endParaRPr lang="en-US" sz="1100" kern="1200"/>
        </a:p>
      </dsp:txBody>
      <dsp:txXfrm>
        <a:off x="863438" y="1214941"/>
        <a:ext cx="1516992" cy="606796"/>
      </dsp:txXfrm>
    </dsp:sp>
    <dsp:sp modelId="{919AAFE1-342A-4CF7-9A1E-43C910A6DC5E}">
      <dsp:nvSpPr>
        <dsp:cNvPr id="0" name=""/>
        <dsp:cNvSpPr/>
      </dsp:nvSpPr>
      <dsp:spPr>
        <a:xfrm>
          <a:off x="2941717" y="1347"/>
          <a:ext cx="925365" cy="92536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32A1E1-4BC3-4D39-A92C-9BE3E396D7FB}">
      <dsp:nvSpPr>
        <dsp:cNvPr id="0" name=""/>
        <dsp:cNvSpPr/>
      </dsp:nvSpPr>
      <dsp:spPr>
        <a:xfrm>
          <a:off x="3138926" y="198556"/>
          <a:ext cx="530947" cy="5309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3C744F-0C89-4929-A838-4DDA8515E07B}">
      <dsp:nvSpPr>
        <dsp:cNvPr id="0" name=""/>
        <dsp:cNvSpPr/>
      </dsp:nvSpPr>
      <dsp:spPr>
        <a:xfrm>
          <a:off x="2645903" y="1214941"/>
          <a:ext cx="1516992" cy="60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Allow students to set reminders for assignments,deadlines and events</a:t>
          </a:r>
          <a:endParaRPr lang="en-US" sz="1100" kern="1200"/>
        </a:p>
      </dsp:txBody>
      <dsp:txXfrm>
        <a:off x="2645903" y="1214941"/>
        <a:ext cx="1516992" cy="606796"/>
      </dsp:txXfrm>
    </dsp:sp>
    <dsp:sp modelId="{05222554-5CDA-495E-8C9A-B58FBDAD898D}">
      <dsp:nvSpPr>
        <dsp:cNvPr id="0" name=""/>
        <dsp:cNvSpPr/>
      </dsp:nvSpPr>
      <dsp:spPr>
        <a:xfrm>
          <a:off x="4724183" y="1347"/>
          <a:ext cx="925365" cy="92536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CF1DF4-4423-474C-93D8-6C69D274C930}">
      <dsp:nvSpPr>
        <dsp:cNvPr id="0" name=""/>
        <dsp:cNvSpPr/>
      </dsp:nvSpPr>
      <dsp:spPr>
        <a:xfrm>
          <a:off x="4921392" y="198556"/>
          <a:ext cx="530947" cy="5309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56C17F-2A44-41D6-B16B-5D79DC3DF9E0}">
      <dsp:nvSpPr>
        <dsp:cNvPr id="0" name=""/>
        <dsp:cNvSpPr/>
      </dsp:nvSpPr>
      <dsp:spPr>
        <a:xfrm>
          <a:off x="4428369" y="1214941"/>
          <a:ext cx="1516992" cy="60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To help students stay organised with a simple calender system</a:t>
          </a:r>
          <a:endParaRPr lang="en-US" sz="1100" kern="1200"/>
        </a:p>
      </dsp:txBody>
      <dsp:txXfrm>
        <a:off x="4428369" y="1214941"/>
        <a:ext cx="1516992" cy="606796"/>
      </dsp:txXfrm>
    </dsp:sp>
    <dsp:sp modelId="{03880E2D-5F55-43F0-9D16-3AEF458A9B0D}">
      <dsp:nvSpPr>
        <dsp:cNvPr id="0" name=""/>
        <dsp:cNvSpPr/>
      </dsp:nvSpPr>
      <dsp:spPr>
        <a:xfrm>
          <a:off x="6506649" y="1347"/>
          <a:ext cx="925365" cy="92536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BE5BB5-98E2-4759-97E2-F1D3791FAE2B}">
      <dsp:nvSpPr>
        <dsp:cNvPr id="0" name=""/>
        <dsp:cNvSpPr/>
      </dsp:nvSpPr>
      <dsp:spPr>
        <a:xfrm>
          <a:off x="6703858" y="198556"/>
          <a:ext cx="530947" cy="5309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14915-6E3E-4C66-9CFA-27F0FBE31354}">
      <dsp:nvSpPr>
        <dsp:cNvPr id="0" name=""/>
        <dsp:cNvSpPr/>
      </dsp:nvSpPr>
      <dsp:spPr>
        <a:xfrm>
          <a:off x="6210835" y="1214941"/>
          <a:ext cx="1516992" cy="60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To reduce stress by helping students keep track of important tasks and events </a:t>
          </a:r>
          <a:endParaRPr lang="en-US" sz="1100" kern="1200"/>
        </a:p>
      </dsp:txBody>
      <dsp:txXfrm>
        <a:off x="6210835" y="1214941"/>
        <a:ext cx="1516992" cy="606796"/>
      </dsp:txXfrm>
    </dsp:sp>
    <dsp:sp modelId="{36D1CBA8-335E-465D-8496-ADFF3BD48E67}">
      <dsp:nvSpPr>
        <dsp:cNvPr id="0" name=""/>
        <dsp:cNvSpPr/>
      </dsp:nvSpPr>
      <dsp:spPr>
        <a:xfrm>
          <a:off x="3832950" y="2200986"/>
          <a:ext cx="925365" cy="92536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2BB5D6-CFFD-424E-9814-075DE1F66CED}">
      <dsp:nvSpPr>
        <dsp:cNvPr id="0" name=""/>
        <dsp:cNvSpPr/>
      </dsp:nvSpPr>
      <dsp:spPr>
        <a:xfrm>
          <a:off x="4030159" y="2398195"/>
          <a:ext cx="530947" cy="5309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C89615-2829-4C13-9EDE-CC969E4D5F82}">
      <dsp:nvSpPr>
        <dsp:cNvPr id="0" name=""/>
        <dsp:cNvSpPr/>
      </dsp:nvSpPr>
      <dsp:spPr>
        <a:xfrm>
          <a:off x="3537136" y="3414580"/>
          <a:ext cx="1516992" cy="60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To help students balance study time and social acitivites </a:t>
          </a:r>
          <a:endParaRPr lang="en-US" sz="1100" kern="1200"/>
        </a:p>
      </dsp:txBody>
      <dsp:txXfrm>
        <a:off x="3537136" y="3414580"/>
        <a:ext cx="1516992" cy="6067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9EF9EB-6D74-4082-9AB0-D8B368E30826}">
      <dsp:nvSpPr>
        <dsp:cNvPr id="0" name=""/>
        <dsp:cNvSpPr/>
      </dsp:nvSpPr>
      <dsp:spPr>
        <a:xfrm>
          <a:off x="0" y="0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Missed deadlines and opportunities</a:t>
          </a:r>
          <a:endParaRPr lang="en-US" sz="1700" kern="1200"/>
        </a:p>
      </dsp:txBody>
      <dsp:txXfrm>
        <a:off x="19451" y="19451"/>
        <a:ext cx="7620120" cy="625190"/>
      </dsp:txXfrm>
    </dsp:sp>
    <dsp:sp modelId="{D0157E48-90EF-4BA4-B40F-BC91CC4DB383}">
      <dsp:nvSpPr>
        <dsp:cNvPr id="0" name=""/>
        <dsp:cNvSpPr/>
      </dsp:nvSpPr>
      <dsp:spPr>
        <a:xfrm>
          <a:off x="628350" y="756328"/>
          <a:ext cx="8414428" cy="6640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Poor time management and organisation</a:t>
          </a:r>
          <a:endParaRPr lang="en-US" sz="1700" kern="1200"/>
        </a:p>
      </dsp:txBody>
      <dsp:txXfrm>
        <a:off x="647801" y="775779"/>
        <a:ext cx="7315515" cy="625190"/>
      </dsp:txXfrm>
    </dsp:sp>
    <dsp:sp modelId="{E424F9C9-72F9-4C93-B552-1CB5850412EE}">
      <dsp:nvSpPr>
        <dsp:cNvPr id="0" name=""/>
        <dsp:cNvSpPr/>
      </dsp:nvSpPr>
      <dsp:spPr>
        <a:xfrm>
          <a:off x="1256700" y="1512656"/>
          <a:ext cx="8414428" cy="66409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Student stress and lack of confidence leading to low engagement with university activities</a:t>
          </a:r>
          <a:endParaRPr lang="en-US" sz="1700" kern="1200" dirty="0"/>
        </a:p>
      </dsp:txBody>
      <dsp:txXfrm>
        <a:off x="1276151" y="1532107"/>
        <a:ext cx="7315515" cy="625190"/>
      </dsp:txXfrm>
    </dsp:sp>
    <dsp:sp modelId="{AAAE8343-8CBB-40A7-A787-503C01408092}">
      <dsp:nvSpPr>
        <dsp:cNvPr id="0" name=""/>
        <dsp:cNvSpPr/>
      </dsp:nvSpPr>
      <dsp:spPr>
        <a:xfrm>
          <a:off x="1885050" y="2268984"/>
          <a:ext cx="8414428" cy="66409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Students unaware of events and support</a:t>
          </a:r>
          <a:endParaRPr lang="en-US" sz="1700" kern="1200"/>
        </a:p>
      </dsp:txBody>
      <dsp:txXfrm>
        <a:off x="1904501" y="2288435"/>
        <a:ext cx="7315515" cy="625190"/>
      </dsp:txXfrm>
    </dsp:sp>
    <dsp:sp modelId="{C91C5AE1-E0BB-4314-B603-EC51F733CEC5}">
      <dsp:nvSpPr>
        <dsp:cNvPr id="0" name=""/>
        <dsp:cNvSpPr/>
      </dsp:nvSpPr>
      <dsp:spPr>
        <a:xfrm>
          <a:off x="2513400" y="3025312"/>
          <a:ext cx="8414428" cy="66409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Students using insecure third-party apps to track university schedules and personal data</a:t>
          </a:r>
        </a:p>
      </dsp:txBody>
      <dsp:txXfrm>
        <a:off x="2532851" y="3044763"/>
        <a:ext cx="7315515" cy="625190"/>
      </dsp:txXfrm>
    </dsp:sp>
    <dsp:sp modelId="{33DDE1E8-F696-4B6E-A934-8A5548DA44E1}">
      <dsp:nvSpPr>
        <dsp:cNvPr id="0" name=""/>
        <dsp:cNvSpPr/>
      </dsp:nvSpPr>
      <dsp:spPr>
        <a:xfrm>
          <a:off x="7982767" y="485156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079890" y="485156"/>
        <a:ext cx="237414" cy="324824"/>
      </dsp:txXfrm>
    </dsp:sp>
    <dsp:sp modelId="{285408C5-735E-467C-9131-A63DFAB38A03}">
      <dsp:nvSpPr>
        <dsp:cNvPr id="0" name=""/>
        <dsp:cNvSpPr/>
      </dsp:nvSpPr>
      <dsp:spPr>
        <a:xfrm>
          <a:off x="8611118" y="124148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708241" y="1241484"/>
        <a:ext cx="237414" cy="324824"/>
      </dsp:txXfrm>
    </dsp:sp>
    <dsp:sp modelId="{7378ADCA-5599-4617-8808-4500501BDF81}">
      <dsp:nvSpPr>
        <dsp:cNvPr id="0" name=""/>
        <dsp:cNvSpPr/>
      </dsp:nvSpPr>
      <dsp:spPr>
        <a:xfrm>
          <a:off x="9239468" y="198674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336591" y="1986744"/>
        <a:ext cx="237414" cy="324824"/>
      </dsp:txXfrm>
    </dsp:sp>
    <dsp:sp modelId="{09372EE4-5A04-4338-ACEE-8C5598F5638E}">
      <dsp:nvSpPr>
        <dsp:cNvPr id="0" name=""/>
        <dsp:cNvSpPr/>
      </dsp:nvSpPr>
      <dsp:spPr>
        <a:xfrm>
          <a:off x="9867818" y="2750451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964941" y="2750451"/>
        <a:ext cx="237414" cy="3248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4CC2F1-2756-4751-A916-5C3A67CAD413}">
      <dsp:nvSpPr>
        <dsp:cNvPr id="0" name=""/>
        <dsp:cNvSpPr/>
      </dsp:nvSpPr>
      <dsp:spPr>
        <a:xfrm>
          <a:off x="0" y="65279"/>
          <a:ext cx="4466685" cy="7558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Held weekly meetings to track progress and plan next steps</a:t>
          </a:r>
          <a:endParaRPr lang="en-US" sz="1900" kern="1200"/>
        </a:p>
      </dsp:txBody>
      <dsp:txXfrm>
        <a:off x="36896" y="102175"/>
        <a:ext cx="4392893" cy="682028"/>
      </dsp:txXfrm>
    </dsp:sp>
    <dsp:sp modelId="{0034CE25-10D2-44AA-B584-292620387D42}">
      <dsp:nvSpPr>
        <dsp:cNvPr id="0" name=""/>
        <dsp:cNvSpPr/>
      </dsp:nvSpPr>
      <dsp:spPr>
        <a:xfrm>
          <a:off x="0" y="875819"/>
          <a:ext cx="4466685" cy="7558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Task were divided based on individual strengths and roles</a:t>
          </a:r>
          <a:endParaRPr lang="en-US" sz="1900" kern="1200"/>
        </a:p>
      </dsp:txBody>
      <dsp:txXfrm>
        <a:off x="36896" y="912715"/>
        <a:ext cx="4392893" cy="682028"/>
      </dsp:txXfrm>
    </dsp:sp>
    <dsp:sp modelId="{2A176975-0534-481E-AA20-611150706785}">
      <dsp:nvSpPr>
        <dsp:cNvPr id="0" name=""/>
        <dsp:cNvSpPr/>
      </dsp:nvSpPr>
      <dsp:spPr>
        <a:xfrm>
          <a:off x="0" y="1686359"/>
          <a:ext cx="4466685" cy="7558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Used group chats for better communication</a:t>
          </a:r>
          <a:endParaRPr lang="en-US" sz="1900" kern="1200"/>
        </a:p>
      </dsp:txBody>
      <dsp:txXfrm>
        <a:off x="36896" y="1723255"/>
        <a:ext cx="4392893" cy="682028"/>
      </dsp:txXfrm>
    </dsp:sp>
    <dsp:sp modelId="{F6209BB8-06AC-4EBD-B4A8-CB9DA73283B9}">
      <dsp:nvSpPr>
        <dsp:cNvPr id="0" name=""/>
        <dsp:cNvSpPr/>
      </dsp:nvSpPr>
      <dsp:spPr>
        <a:xfrm>
          <a:off x="0" y="2496899"/>
          <a:ext cx="4466685" cy="7558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Used Trello board to organise tasks and track the process</a:t>
          </a:r>
          <a:endParaRPr lang="en-US" sz="1900" kern="1200"/>
        </a:p>
      </dsp:txBody>
      <dsp:txXfrm>
        <a:off x="36896" y="2533795"/>
        <a:ext cx="4392893" cy="682028"/>
      </dsp:txXfrm>
    </dsp:sp>
    <dsp:sp modelId="{E3766267-3601-4FBD-AE10-6706F1BCBC14}">
      <dsp:nvSpPr>
        <dsp:cNvPr id="0" name=""/>
        <dsp:cNvSpPr/>
      </dsp:nvSpPr>
      <dsp:spPr>
        <a:xfrm>
          <a:off x="0" y="3307439"/>
          <a:ext cx="4466685" cy="7558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Used GitHub to manage and share code collaboratively</a:t>
          </a:r>
          <a:endParaRPr lang="en-US" sz="1900" kern="1200"/>
        </a:p>
      </dsp:txBody>
      <dsp:txXfrm>
        <a:off x="36896" y="3344335"/>
        <a:ext cx="4392893" cy="6820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318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3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36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168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114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972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172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136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061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397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39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092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7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9730" y="-560967"/>
            <a:ext cx="8023373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/>
              <a:t>REMINDER WEBSITE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1C097-71CC-1B3E-6B72-031B5D63D5D1}"/>
              </a:ext>
            </a:extLst>
          </p:cNvPr>
          <p:cNvSpPr txBox="1"/>
          <p:nvPr/>
        </p:nvSpPr>
        <p:spPr>
          <a:xfrm>
            <a:off x="632048" y="1829366"/>
            <a:ext cx="5462473" cy="359604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400" kern="1200" dirty="0">
                <a:latin typeface="Calibri Light"/>
                <a:ea typeface="Calibri Light"/>
                <a:cs typeface="Calibri Light"/>
              </a:rPr>
              <a:t>The </a:t>
            </a:r>
            <a:r>
              <a:rPr lang="en-US" sz="2400" dirty="0">
                <a:latin typeface="Calibri Light"/>
                <a:ea typeface="Calibri Light"/>
                <a:cs typeface="Calibri Light"/>
              </a:rPr>
              <a:t>Vision: </a:t>
            </a:r>
            <a:r>
              <a:rPr lang="en-US" sz="2400" kern="1200" dirty="0">
                <a:latin typeface="Calibri Light"/>
                <a:ea typeface="Calibri Light"/>
                <a:cs typeface="Calibri Light"/>
              </a:rPr>
              <a:t>A central information system that connects </a:t>
            </a:r>
            <a:r>
              <a:rPr lang="en-US" sz="2400" dirty="0">
                <a:latin typeface="Calibri Light"/>
                <a:ea typeface="Calibri Light"/>
                <a:cs typeface="Calibri Light"/>
              </a:rPr>
              <a:t>and helps academic</a:t>
            </a:r>
            <a:r>
              <a:rPr lang="en-US" sz="2400" kern="1200" dirty="0">
                <a:latin typeface="Calibri Light"/>
                <a:ea typeface="Calibri Light"/>
                <a:cs typeface="Calibri Light"/>
              </a:rPr>
              <a:t> requirements with student wellbeing.</a:t>
            </a:r>
            <a:endParaRPr lang="en-US" sz="2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400" kern="1200" dirty="0">
                <a:latin typeface="Calibri Light"/>
                <a:ea typeface="Calibri Light"/>
                <a:cs typeface="Calibri Light"/>
              </a:rPr>
              <a:t>Presentation Goal: To show how </a:t>
            </a:r>
            <a:r>
              <a:rPr lang="en-US" sz="2400" dirty="0">
                <a:latin typeface="Calibri Light"/>
                <a:ea typeface="Calibri Light"/>
                <a:cs typeface="Calibri Light"/>
              </a:rPr>
              <a:t>a </a:t>
            </a:r>
            <a:r>
              <a:rPr lang="en-US" sz="2400" kern="1200" dirty="0">
                <a:latin typeface="Calibri Light"/>
                <a:ea typeface="Calibri Light"/>
                <a:cs typeface="Calibri Light"/>
              </a:rPr>
              <a:t>digital workspace can help students keep track of key dates, improve </a:t>
            </a:r>
            <a:r>
              <a:rPr lang="en-US" sz="2400" dirty="0">
                <a:latin typeface="Calibri Light"/>
                <a:ea typeface="Calibri Light"/>
                <a:cs typeface="Calibri Light"/>
              </a:rPr>
              <a:t>focus, </a:t>
            </a:r>
            <a:r>
              <a:rPr lang="en-US" sz="2400" kern="1200" dirty="0">
                <a:latin typeface="Calibri Light"/>
                <a:ea typeface="Calibri Light"/>
                <a:cs typeface="Calibri Light"/>
              </a:rPr>
              <a:t>success</a:t>
            </a:r>
            <a:r>
              <a:rPr lang="en-US" sz="2400" kern="1200">
                <a:latin typeface="Calibri Light"/>
                <a:ea typeface="Calibri Light"/>
                <a:cs typeface="Calibri Light"/>
              </a:rPr>
              <a:t> and support university </a:t>
            </a:r>
            <a:r>
              <a:rPr lang="en-US" sz="2400">
                <a:latin typeface="Calibri Light"/>
                <a:ea typeface="Calibri Light"/>
                <a:cs typeface="Calibri Light"/>
              </a:rPr>
              <a:t>lie.</a:t>
            </a:r>
            <a:endParaRPr lang="en-US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  <a:p>
            <a:pPr marR="0" lvl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BB55AC-8CD3-447B-11EC-A025A4CE82B7}"/>
              </a:ext>
            </a:extLst>
          </p:cNvPr>
          <p:cNvSpPr txBox="1"/>
          <p:nvPr/>
        </p:nvSpPr>
        <p:spPr>
          <a:xfrm>
            <a:off x="8458998" y="1365879"/>
            <a:ext cx="4010330" cy="27699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Team name: The elite </a:t>
            </a:r>
            <a:r>
              <a:rPr kumimoji="0" lang="en-GB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si</a:t>
            </a:r>
            <a:r>
              <a:rPr lang="en-GB" dirty="0">
                <a:latin typeface="Aptos" panose="020B0004020202020204"/>
              </a:rPr>
              <a:t>x</a:t>
            </a:r>
            <a:endParaRPr kumimoji="0" lang="en-GB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>
              <a:spcAft>
                <a:spcPts val="600"/>
              </a:spcAft>
              <a:defRPr/>
            </a:pPr>
            <a:endParaRPr lang="en-GB" sz="1400" dirty="0">
              <a:latin typeface="Aptos" panose="020B0004020202020204"/>
            </a:endParaRPr>
          </a:p>
          <a:p>
            <a:pPr>
              <a:spcAft>
                <a:spcPts val="600"/>
              </a:spcAft>
              <a:defRPr/>
            </a:pPr>
            <a:r>
              <a:rPr kumimoji="0" lang="en-GB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Team Leader: Tariq </a:t>
            </a:r>
            <a:r>
              <a:rPr kumimoji="0" lang="en-GB" sz="1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Alshamary</a:t>
            </a:r>
            <a:r>
              <a:rPr lang="en-GB" sz="1400" dirty="0">
                <a:latin typeface="Aptos" panose="020B0004020202020204"/>
              </a:rPr>
              <a:t> - 24825454</a:t>
            </a:r>
            <a:endParaRPr lang="en-GB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" panose="020B0004020202020204"/>
            </a:endParaRPr>
          </a:p>
          <a:p>
            <a:pPr>
              <a:spcAft>
                <a:spcPts val="600"/>
              </a:spcAft>
              <a:defRPr/>
            </a:pPr>
            <a:r>
              <a:rPr kumimoji="0" lang="en-GB" sz="14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Quality Controller: Adam Emam</a:t>
            </a:r>
            <a:r>
              <a:rPr lang="en-GB" sz="1400">
                <a:latin typeface="Aptos" panose="020B0004020202020204"/>
              </a:rPr>
              <a:t> - 25898823</a:t>
            </a:r>
            <a:endParaRPr lang="en-GB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" panose="020B0004020202020204"/>
            </a:endParaRPr>
          </a:p>
          <a:p>
            <a:pPr>
              <a:spcAft>
                <a:spcPts val="600"/>
              </a:spcAft>
              <a:defRPr/>
            </a:pPr>
            <a:r>
              <a:rPr kumimoji="0" lang="en-GB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Product Owner: Tala </a:t>
            </a:r>
            <a:r>
              <a:rPr kumimoji="0" lang="en-GB" sz="1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Alzoabi</a:t>
            </a:r>
            <a:r>
              <a:rPr lang="en-GB" sz="1400" dirty="0">
                <a:latin typeface="Aptos" panose="020B0004020202020204"/>
              </a:rPr>
              <a:t> - 24817396</a:t>
            </a:r>
            <a:endParaRPr lang="en-GB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/>
            </a:endParaRPr>
          </a:p>
          <a:p>
            <a:pPr>
              <a:spcAft>
                <a:spcPts val="600"/>
              </a:spcAft>
              <a:defRPr/>
            </a:pPr>
            <a:r>
              <a:rPr kumimoji="0" lang="en-GB" sz="14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Team member: Rizwan Baig</a:t>
            </a:r>
            <a:r>
              <a:rPr lang="en-GB" sz="1400">
                <a:latin typeface="Aptos" panose="020B0004020202020204"/>
              </a:rPr>
              <a:t> - 24809749</a:t>
            </a:r>
            <a:endParaRPr lang="en-GB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" panose="020B0004020202020204"/>
            </a:endParaRPr>
          </a:p>
          <a:p>
            <a:pPr>
              <a:spcAft>
                <a:spcPts val="600"/>
              </a:spcAft>
              <a:defRPr/>
            </a:pPr>
            <a:r>
              <a:rPr kumimoji="0" lang="en-GB" sz="14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Team member: Abdullah Ramzan</a:t>
            </a:r>
            <a:r>
              <a:rPr lang="en-GB" sz="1400">
                <a:latin typeface="Aptos" panose="020B0004020202020204"/>
              </a:rPr>
              <a:t> - 24769334</a:t>
            </a:r>
            <a:endParaRPr lang="en-GB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" panose="020B0004020202020204"/>
            </a:endParaRPr>
          </a:p>
          <a:p>
            <a:pPr>
              <a:spcAft>
                <a:spcPts val="600"/>
              </a:spcAft>
              <a:defRPr/>
            </a:pPr>
            <a:r>
              <a:rPr kumimoji="0" lang="en-GB" sz="14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Team member: Mohammed Danish</a:t>
            </a:r>
            <a:r>
              <a:rPr lang="en-GB" sz="1400">
                <a:latin typeface="Aptos" panose="020B0004020202020204"/>
              </a:rPr>
              <a:t> - 24815446</a:t>
            </a:r>
            <a:endParaRPr lang="en-GB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" panose="020B0004020202020204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26161E-EF0D-C347-89F6-C535F5F1BCFD}"/>
              </a:ext>
            </a:extLst>
          </p:cNvPr>
          <p:cNvSpPr txBox="1"/>
          <p:nvPr/>
        </p:nvSpPr>
        <p:spPr>
          <a:xfrm>
            <a:off x="206478" y="216310"/>
            <a:ext cx="26004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Tariq Alshamary - 24825454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C3D66-3E50-7FA2-257C-A1453822E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17" y="286603"/>
            <a:ext cx="10058400" cy="1450757"/>
          </a:xfrm>
        </p:spPr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  AIMS OF REMINDER WEBSITE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6D49F8-E92B-B548-9EBB-25F871BEF1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9444695"/>
              </p:ext>
            </p:extLst>
          </p:nvPr>
        </p:nvGraphicFramePr>
        <p:xfrm>
          <a:off x="-544" y="1846263"/>
          <a:ext cx="8591266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D4ED73D-1949-9B95-0AAE-786B61DF5A55}"/>
              </a:ext>
            </a:extLst>
          </p:cNvPr>
          <p:cNvSpPr txBox="1"/>
          <p:nvPr/>
        </p:nvSpPr>
        <p:spPr>
          <a:xfrm>
            <a:off x="9910916" y="285135"/>
            <a:ext cx="208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Rizwan Baig</a:t>
            </a: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D0F9E6EB-C22A-75AF-1B2C-D1C55C8457B8}"/>
              </a:ext>
            </a:extLst>
          </p:cNvPr>
          <p:cNvSpPr txBox="1"/>
          <p:nvPr/>
        </p:nvSpPr>
        <p:spPr>
          <a:xfrm>
            <a:off x="8436799" y="1746695"/>
            <a:ext cx="3662150" cy="42165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Wingdings,Sans-Serif"/>
              <a:buChar char="§"/>
            </a:pPr>
            <a:r>
              <a:rPr lang="en-GB" sz="1400" b="0" i="0" u="none" strike="noStrike" baseline="0" dirty="0">
                <a:solidFill>
                  <a:srgbClr val="000000"/>
                </a:solidFill>
                <a:latin typeface="Calibri Light"/>
                <a:ea typeface="Arial"/>
                <a:cs typeface="Arial"/>
              </a:rPr>
              <a:t>Team leader – Tariq </a:t>
            </a:r>
            <a:r>
              <a:rPr lang="en-GB" sz="1400" b="0" i="0" u="none" strike="noStrike" baseline="0" dirty="0" err="1">
                <a:solidFill>
                  <a:srgbClr val="000000"/>
                </a:solidFill>
                <a:latin typeface="Calibri Light"/>
                <a:ea typeface="Arial"/>
                <a:cs typeface="Arial"/>
              </a:rPr>
              <a:t>Alshamary</a:t>
            </a:r>
            <a:r>
              <a:rPr lang="en-GB" sz="1400" b="0" i="0" u="none" strike="noStrike" baseline="0" dirty="0">
                <a:solidFill>
                  <a:srgbClr val="000000"/>
                </a:solidFill>
                <a:latin typeface="Calibri Light"/>
                <a:ea typeface="Arial"/>
                <a:cs typeface="Arial"/>
              </a:rPr>
              <a:t>  - Organised team meetings and managed </a:t>
            </a:r>
            <a:r>
              <a:rPr lang="en-GB" sz="1400" dirty="0">
                <a:solidFill>
                  <a:srgbClr val="000000"/>
                </a:solidFill>
                <a:latin typeface="Calibri Light"/>
                <a:ea typeface="Arial"/>
                <a:cs typeface="Arial"/>
              </a:rPr>
              <a:t>sprint retrospectives</a:t>
            </a:r>
            <a:r>
              <a:rPr lang="en-GB" sz="1400" b="0" i="0" u="none" strike="noStrike" baseline="0" dirty="0">
                <a:solidFill>
                  <a:srgbClr val="000000"/>
                </a:solidFill>
                <a:latin typeface="Calibri Light"/>
                <a:ea typeface="Arial"/>
                <a:cs typeface="Arial"/>
              </a:rPr>
              <a:t> </a:t>
            </a:r>
            <a:r>
              <a:rPr lang="en-US" sz="1400" b="0" i="0" dirty="0">
                <a:solidFill>
                  <a:srgbClr val="000000"/>
                </a:solidFill>
                <a:latin typeface="Calibri Light"/>
                <a:ea typeface="Arial"/>
                <a:cs typeface="Arial"/>
              </a:rPr>
              <a:t>​</a:t>
            </a:r>
          </a:p>
          <a:p>
            <a:pPr marL="228600" indent="-228600">
              <a:buFont typeface="Wingdings,Sans-Serif"/>
              <a:buChar char="§"/>
            </a:pPr>
            <a:endParaRPr lang="en-US" sz="1400" dirty="0">
              <a:solidFill>
                <a:srgbClr val="000000"/>
              </a:solidFill>
              <a:latin typeface="Calibri Light"/>
              <a:ea typeface="Arial"/>
              <a:cs typeface="Arial"/>
            </a:endParaRPr>
          </a:p>
          <a:p>
            <a:pPr marL="228600" indent="-228600">
              <a:buFont typeface="Wingdings,Sans-Serif"/>
              <a:buChar char="§"/>
            </a:pPr>
            <a:r>
              <a:rPr lang="en-GB" sz="1400" b="0" i="0" u="none" strike="noStrike" baseline="0" dirty="0">
                <a:solidFill>
                  <a:srgbClr val="000000"/>
                </a:solidFill>
                <a:latin typeface="Calibri Light"/>
                <a:ea typeface="Arial"/>
                <a:cs typeface="Arial"/>
              </a:rPr>
              <a:t>Team Members – Rizwan Baig, Abdullah Ramzan, Mohammad Danish  - Contributed </a:t>
            </a:r>
            <a:r>
              <a:rPr lang="en-GB" sz="1400" dirty="0">
                <a:solidFill>
                  <a:srgbClr val="000000"/>
                </a:solidFill>
                <a:latin typeface="Calibri Light"/>
                <a:ea typeface="Arial"/>
                <a:cs typeface="Arial"/>
              </a:rPr>
              <a:t>to design</a:t>
            </a:r>
            <a:r>
              <a:rPr lang="en-GB" sz="1400" b="0" i="0" u="none" strike="noStrike" baseline="0" dirty="0">
                <a:solidFill>
                  <a:srgbClr val="000000"/>
                </a:solidFill>
                <a:latin typeface="Calibri Light"/>
                <a:ea typeface="Arial"/>
                <a:cs typeface="Arial"/>
              </a:rPr>
              <a:t>, research and development of the project</a:t>
            </a:r>
            <a:r>
              <a:rPr lang="en-US" sz="1400" b="0" i="0" dirty="0">
                <a:solidFill>
                  <a:srgbClr val="000000"/>
                </a:solidFill>
                <a:latin typeface="Calibri Light"/>
                <a:ea typeface="Arial"/>
                <a:cs typeface="Arial"/>
              </a:rPr>
              <a:t>​</a:t>
            </a:r>
          </a:p>
          <a:p>
            <a:pPr marL="228600" indent="-228600">
              <a:buFont typeface="Wingdings,Sans-Serif"/>
              <a:buChar char="§"/>
            </a:pPr>
            <a:endParaRPr lang="en-US" sz="1400" dirty="0">
              <a:solidFill>
                <a:srgbClr val="000000"/>
              </a:solidFill>
              <a:latin typeface="Calibri Light"/>
              <a:ea typeface="Arial"/>
              <a:cs typeface="Arial"/>
            </a:endParaRPr>
          </a:p>
          <a:p>
            <a:pPr marL="228600" lvl="0" indent="-228600" algn="l" rtl="0">
              <a:buFont typeface="Wingdings,Sans-Serif"/>
              <a:buChar char="§"/>
            </a:pPr>
            <a:r>
              <a:rPr lang="en-GB" sz="1400" b="0" i="0" u="none" strike="noStrike" baseline="0" dirty="0">
                <a:solidFill>
                  <a:srgbClr val="000000"/>
                </a:solidFill>
                <a:latin typeface="Calibri Light"/>
                <a:ea typeface="Arial"/>
                <a:cs typeface="Arial"/>
              </a:rPr>
              <a:t>Product Owner – Tala </a:t>
            </a:r>
            <a:r>
              <a:rPr lang="en-GB" sz="1400" b="0" i="0" u="none" strike="noStrike" baseline="0" dirty="0" err="1">
                <a:solidFill>
                  <a:srgbClr val="000000"/>
                </a:solidFill>
                <a:latin typeface="Calibri Light"/>
                <a:ea typeface="Arial"/>
                <a:cs typeface="Arial"/>
              </a:rPr>
              <a:t>Alzoabi</a:t>
            </a:r>
            <a:r>
              <a:rPr lang="en-GB" sz="1400" b="0" i="0" u="none" strike="noStrike" baseline="0" dirty="0">
                <a:solidFill>
                  <a:srgbClr val="000000"/>
                </a:solidFill>
                <a:latin typeface="Calibri Light"/>
                <a:ea typeface="Arial"/>
                <a:cs typeface="Arial"/>
              </a:rPr>
              <a:t> - Defined project requirements and prioritised features</a:t>
            </a:r>
            <a:r>
              <a:rPr lang="en-US" sz="1400" b="0" i="0" dirty="0">
                <a:solidFill>
                  <a:srgbClr val="000000"/>
                </a:solidFill>
                <a:latin typeface="Calibri Light"/>
                <a:ea typeface="Arial"/>
                <a:cs typeface="Arial"/>
              </a:rPr>
              <a:t>​</a:t>
            </a:r>
          </a:p>
          <a:p>
            <a:pPr marL="228600" indent="-228600">
              <a:buFont typeface="Wingdings,Sans-Serif"/>
              <a:buChar char="§"/>
            </a:pPr>
            <a:endParaRPr lang="en-US" sz="1400" dirty="0">
              <a:solidFill>
                <a:srgbClr val="000000"/>
              </a:solidFill>
              <a:latin typeface="Calibri Light"/>
              <a:ea typeface="Arial"/>
              <a:cs typeface="Arial"/>
            </a:endParaRPr>
          </a:p>
          <a:p>
            <a:pPr marL="228600" lvl="0" indent="-228600" algn="l" rtl="0">
              <a:buFont typeface="Wingdings,Sans-Serif"/>
              <a:buChar char="§"/>
            </a:pPr>
            <a:r>
              <a:rPr lang="en-GB" sz="1400" b="0" i="0" u="none" strike="noStrike" baseline="0">
                <a:solidFill>
                  <a:srgbClr val="000000"/>
                </a:solidFill>
                <a:latin typeface="Calibri Light"/>
                <a:ea typeface="Arial"/>
                <a:cs typeface="Arial"/>
              </a:rPr>
              <a:t>Quality Controller – Adam Emam - Reviewed work and ensured quality and testing</a:t>
            </a:r>
            <a:r>
              <a:rPr lang="en-GB" sz="1400" b="0" i="0">
                <a:solidFill>
                  <a:srgbClr val="000000"/>
                </a:solidFill>
                <a:latin typeface="Calibri Light"/>
                <a:ea typeface="Arial"/>
                <a:cs typeface="Arial"/>
              </a:rPr>
              <a:t>​</a:t>
            </a:r>
            <a:endParaRPr lang="en-GB" sz="1400" b="0" i="0" dirty="0">
              <a:solidFill>
                <a:srgbClr val="000000"/>
              </a:solidFill>
              <a:latin typeface="Calibri Light"/>
              <a:ea typeface="Arial"/>
              <a:cs typeface="Arial"/>
            </a:endParaRPr>
          </a:p>
          <a:p>
            <a:pPr marL="228600" lvl="0" indent="-228600" algn="l" rtl="0">
              <a:buFont typeface="Wingdings,Sans-Serif"/>
              <a:buChar char="§"/>
            </a:pPr>
            <a:endParaRPr lang="en-GB" sz="1200" b="0" i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 rtl="0"/>
            <a:r>
              <a:rPr lang="en-GB" sz="1400" b="0" i="0" u="none" strike="noStrike" baseline="0" dirty="0">
                <a:solidFill>
                  <a:srgbClr val="000000"/>
                </a:solidFill>
                <a:latin typeface="Calibri Light"/>
                <a:ea typeface="Arial"/>
                <a:cs typeface="Arial"/>
              </a:rPr>
              <a:t>Roles helped us stay organised, share responsibility and work efficiently as a team</a:t>
            </a:r>
          </a:p>
          <a:p>
            <a:pPr algn="ctr"/>
            <a:endParaRPr lang="en-GB"/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445D9AE3-E5D8-C2D2-6DC6-4A91852C0939}"/>
              </a:ext>
            </a:extLst>
          </p:cNvPr>
          <p:cNvSpPr txBox="1"/>
          <p:nvPr/>
        </p:nvSpPr>
        <p:spPr>
          <a:xfrm>
            <a:off x="8723193" y="1239671"/>
            <a:ext cx="25703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Calibri"/>
                <a:cs typeface="Calibri"/>
              </a:rPr>
              <a:t>Team Roles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9561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8594-5C7B-1835-96A9-2785CB8F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 b="1">
                <a:solidFill>
                  <a:schemeClr val="tx1"/>
                </a:solidFill>
              </a:rPr>
              <a:t>Problem Domain: Current University system</a:t>
            </a:r>
            <a:endParaRPr lang="en-GB" sz="4000" b="1" dirty="0">
              <a:solidFill>
                <a:schemeClr val="tx1"/>
              </a:solidFill>
              <a:ea typeface="Calibri Light"/>
              <a:cs typeface="Calibri Light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BBDA93-9465-9D8F-F5AF-98CCD7F110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488124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919EA57-01BC-A75C-7265-806927018AAD}"/>
              </a:ext>
            </a:extLst>
          </p:cNvPr>
          <p:cNvSpPr txBox="1"/>
          <p:nvPr/>
        </p:nvSpPr>
        <p:spPr>
          <a:xfrm>
            <a:off x="9397501" y="167875"/>
            <a:ext cx="2684206" cy="375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Tala Alzoabi </a:t>
            </a:r>
          </a:p>
        </p:txBody>
      </p:sp>
    </p:spTree>
    <p:extLst>
      <p:ext uri="{BB962C8B-B14F-4D97-AF65-F5344CB8AC3E}">
        <p14:creationId xmlns:p14="http://schemas.microsoft.com/office/powerpoint/2010/main" val="1558189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BDB56-0697-CBFC-F584-AF09927AE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284" y="375313"/>
            <a:ext cx="9158077" cy="1343563"/>
          </a:xfrm>
        </p:spPr>
        <p:txBody>
          <a:bodyPr>
            <a:normAutofit/>
          </a:bodyPr>
          <a:lstStyle/>
          <a:p>
            <a:r>
              <a:rPr lang="en-GB" dirty="0"/>
              <a:t>               </a:t>
            </a:r>
            <a:r>
              <a:rPr lang="en-GB">
                <a:solidFill>
                  <a:schemeClr val="tx1"/>
                </a:solidFill>
              </a:rPr>
              <a:t>The impact of the 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F6EA6-A070-66A4-545D-9663C05CE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3206" y="1713190"/>
            <a:ext cx="7298806" cy="581509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1800">
                <a:solidFill>
                  <a:schemeClr val="tx1"/>
                </a:solidFill>
              </a:rPr>
              <a:t>Academic Impact: Missing deadlines can result in capped marks, late penalties and in some cases, </a:t>
            </a:r>
            <a:r>
              <a:rPr lang="en-GB" sz="1800" dirty="0">
                <a:solidFill>
                  <a:schemeClr val="tx1"/>
                </a:solidFill>
              </a:rPr>
              <a:t>students withdrawing from their courses. </a:t>
            </a:r>
            <a:endParaRPr lang="en-GB" sz="18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GB" sz="1800">
                <a:solidFill>
                  <a:schemeClr val="tx1"/>
                </a:solidFill>
              </a:rPr>
              <a:t>Missed Opportunities: Students May also miss internships, networking events and social activities that are </a:t>
            </a:r>
            <a:r>
              <a:rPr lang="en-GB" sz="1800" dirty="0">
                <a:solidFill>
                  <a:schemeClr val="tx1"/>
                </a:solidFill>
              </a:rPr>
              <a:t>important for career development and wellbeing. </a:t>
            </a:r>
            <a:endParaRPr lang="en-GB" sz="18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GB" sz="1800" dirty="0">
                <a:solidFill>
                  <a:schemeClr val="tx1"/>
                </a:solidFill>
              </a:rPr>
              <a:t>Information Overload: First year and international students often face information overload with important updates which spread across emails, portals and different platforms. </a:t>
            </a:r>
            <a:endParaRPr lang="en-GB" sz="18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GB" sz="1800">
                <a:solidFill>
                  <a:schemeClr val="tx1"/>
                </a:solidFill>
              </a:rPr>
              <a:t>Security Risk: Many Students turn to unverified third-party apps to track deadlines which could </a:t>
            </a:r>
            <a:r>
              <a:rPr lang="en-GB" sz="1800" dirty="0">
                <a:solidFill>
                  <a:schemeClr val="tx1"/>
                </a:solidFill>
              </a:rPr>
              <a:t>expose their MMU credentials and personal data to security risks.</a:t>
            </a:r>
            <a:endParaRPr lang="en-GB" sz="18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2A3C24-84C8-2AD9-5EBE-0FE270814EB1}"/>
              </a:ext>
            </a:extLst>
          </p:cNvPr>
          <p:cNvSpPr txBox="1"/>
          <p:nvPr/>
        </p:nvSpPr>
        <p:spPr>
          <a:xfrm>
            <a:off x="206478" y="216310"/>
            <a:ext cx="26004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Tariq Alshamary - 24825454</a:t>
            </a:r>
          </a:p>
        </p:txBody>
      </p:sp>
      <p:pic>
        <p:nvPicPr>
          <p:cNvPr id="5" name="Picture 4" descr="Problem - Free people icons">
            <a:extLst>
              <a:ext uri="{FF2B5EF4-FFF2-40B4-BE49-F238E27FC236}">
                <a16:creationId xmlns:a16="http://schemas.microsoft.com/office/drawing/2014/main" id="{BA36B22F-518E-59B8-C02C-F58A1A51E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69" y="2007357"/>
            <a:ext cx="3127613" cy="312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515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05C766-C052-48C4-A3F5-C4B57DF1D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752" y="1134967"/>
            <a:ext cx="3855720" cy="584721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chemeClr val="tx2"/>
                </a:solidFill>
              </a:rPr>
              <a:t>Team Approach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9E36DF-F6AF-0C2D-1166-F9F0887ED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260" y="1629224"/>
            <a:ext cx="5221224" cy="4547980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GB" sz="1800" b="1">
                <a:solidFill>
                  <a:schemeClr val="tx2"/>
                </a:solidFill>
              </a:rPr>
              <a:t>Solution: </a:t>
            </a:r>
            <a:r>
              <a:rPr lang="en-GB" sz="1800" dirty="0">
                <a:solidFill>
                  <a:schemeClr val="tx2"/>
                </a:solidFill>
              </a:rPr>
              <a:t>A web-based Student Planner which allows students to create accounts and manage academic tasks</a:t>
            </a:r>
            <a:endParaRPr lang="en-US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1800">
                <a:solidFill>
                  <a:schemeClr val="tx2"/>
                </a:solidFill>
              </a:rPr>
              <a:t>This design will improve organisation and productivity by </a:t>
            </a:r>
            <a:r>
              <a:rPr lang="en-GB" sz="1800" dirty="0">
                <a:solidFill>
                  <a:schemeClr val="tx2"/>
                </a:solidFill>
              </a:rPr>
              <a:t>structuring time views( daily, weekly, monthly, yearly).</a:t>
            </a:r>
            <a:endParaRPr lang="en-GB" sz="1800" dirty="0">
              <a:solidFill>
                <a:schemeClr val="tx2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GB" sz="18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1800" b="1">
                <a:solidFill>
                  <a:schemeClr val="tx2"/>
                </a:solidFill>
              </a:rPr>
              <a:t>How Our Solution  Addresses the problem?</a:t>
            </a:r>
            <a:endParaRPr lang="en-GB" sz="1800">
              <a:solidFill>
                <a:schemeClr val="tx2"/>
              </a:solidFill>
              <a:ea typeface="Calibri"/>
              <a:cs typeface="Calibri"/>
            </a:endParaRPr>
          </a:p>
          <a:p>
            <a:pPr marL="285750" indent="-285750">
              <a:buFont typeface="Arial" panose="020F0502020204030204" pitchFamily="34" charset="0"/>
              <a:buChar char="•"/>
            </a:pPr>
            <a:r>
              <a:rPr lang="en-GB" sz="1800">
                <a:solidFill>
                  <a:schemeClr val="tx2"/>
                </a:solidFill>
              </a:rPr>
              <a:t>Helps </a:t>
            </a:r>
            <a:r>
              <a:rPr lang="en-GB" sz="1800" dirty="0">
                <a:solidFill>
                  <a:schemeClr val="tx2"/>
                </a:solidFill>
              </a:rPr>
              <a:t>students track deadlines in one place </a:t>
            </a:r>
            <a:endParaRPr lang="en-GB" sz="18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F0502020204030204" pitchFamily="34" charset="0"/>
              <a:buChar char="•"/>
            </a:pPr>
            <a:r>
              <a:rPr lang="en-GB" sz="1800" dirty="0">
                <a:solidFill>
                  <a:schemeClr val="tx2"/>
                </a:solidFill>
              </a:rPr>
              <a:t>Improves time management and organisation </a:t>
            </a:r>
            <a:endParaRPr lang="en-GB" sz="1800" dirty="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F0502020204030204" pitchFamily="34" charset="0"/>
              <a:buChar char="•"/>
            </a:pPr>
            <a:r>
              <a:rPr lang="en-GB" sz="1800" dirty="0">
                <a:solidFill>
                  <a:schemeClr val="tx2"/>
                </a:solidFill>
              </a:rPr>
              <a:t>Reduces missed deadlines and confusion</a:t>
            </a:r>
            <a:endParaRPr lang="en-GB" sz="1800" dirty="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F0502020204030204" pitchFamily="34" charset="0"/>
              <a:buChar char="•"/>
            </a:pPr>
            <a:r>
              <a:rPr lang="en-GB" sz="1800" dirty="0">
                <a:solidFill>
                  <a:schemeClr val="tx2"/>
                </a:solidFill>
              </a:rPr>
              <a:t>Flexible viewing options (day, week, month, year)</a:t>
            </a:r>
            <a:endParaRPr lang="en-GB" sz="1800" dirty="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F0502020204030204" pitchFamily="34" charset="0"/>
              <a:buChar char="•"/>
            </a:pPr>
            <a:r>
              <a:rPr lang="en-GB" sz="1800" dirty="0">
                <a:solidFill>
                  <a:schemeClr val="tx2"/>
                </a:solidFill>
              </a:rPr>
              <a:t>Provides a clear and structure overview of tasks </a:t>
            </a:r>
            <a:endParaRPr lang="en-GB" sz="1800" dirty="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F0502020204030204" pitchFamily="34" charset="0"/>
              <a:buChar char="•"/>
            </a:pPr>
            <a:r>
              <a:rPr lang="en-GB" sz="1800" dirty="0">
                <a:solidFill>
                  <a:schemeClr val="tx2"/>
                </a:solidFill>
              </a:rPr>
              <a:t>Keeps student data within a trusted platform instead of insecure third-party apps</a:t>
            </a:r>
            <a:endParaRPr lang="en-GB" sz="1800" dirty="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E42DA2-AE7D-49EE-B8FF-589B65037CD3}"/>
              </a:ext>
            </a:extLst>
          </p:cNvPr>
          <p:cNvSpPr txBox="1"/>
          <p:nvPr/>
        </p:nvSpPr>
        <p:spPr>
          <a:xfrm>
            <a:off x="10146890" y="195518"/>
            <a:ext cx="1897626" cy="381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Rizwan Baig</a:t>
            </a:r>
          </a:p>
        </p:txBody>
      </p:sp>
    </p:spTree>
    <p:extLst>
      <p:ext uri="{BB962C8B-B14F-4D97-AF65-F5344CB8AC3E}">
        <p14:creationId xmlns:p14="http://schemas.microsoft.com/office/powerpoint/2010/main" val="2830830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6CEDB-8645-CD39-5544-09B583A86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395" y="187562"/>
            <a:ext cx="6786075" cy="1644160"/>
          </a:xfrm>
        </p:spPr>
        <p:txBody>
          <a:bodyPr>
            <a:normAutofit/>
          </a:bodyPr>
          <a:lstStyle/>
          <a:p>
            <a:r>
              <a:rPr lang="en-GB" sz="5200"/>
              <a:t>Team Activity and Working process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9C6005-6207-802A-4CA1-3E0A275A2C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9253006"/>
              </p:ext>
            </p:extLst>
          </p:nvPr>
        </p:nvGraphicFramePr>
        <p:xfrm>
          <a:off x="-81568" y="1939676"/>
          <a:ext cx="4466685" cy="41285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241DB9C-8D7C-814D-FC1B-93F378037392}"/>
              </a:ext>
            </a:extLst>
          </p:cNvPr>
          <p:cNvSpPr txBox="1"/>
          <p:nvPr/>
        </p:nvSpPr>
        <p:spPr>
          <a:xfrm>
            <a:off x="0" y="187857"/>
            <a:ext cx="1557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Tala </a:t>
            </a:r>
            <a:r>
              <a:rPr lang="en-GB" dirty="0" err="1"/>
              <a:t>alzoabi</a:t>
            </a:r>
            <a:endParaRPr lang="en-GB" dirty="0"/>
          </a:p>
        </p:txBody>
      </p:sp>
      <p:pic>
        <p:nvPicPr>
          <p:cNvPr id="133" name="Picture 132" descr="Screens screenshot of a computer&#10;&#10;AI-generated content may be incorrect.">
            <a:extLst>
              <a:ext uri="{FF2B5EF4-FFF2-40B4-BE49-F238E27FC236}">
                <a16:creationId xmlns:a16="http://schemas.microsoft.com/office/drawing/2014/main" id="{5C7089F4-1365-C0B2-B257-2C5B9AB25B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5343" y="1720440"/>
            <a:ext cx="7165075" cy="4577180"/>
          </a:xfrm>
          <a:prstGeom prst="rect">
            <a:avLst/>
          </a:prstGeom>
        </p:spPr>
      </p:pic>
      <p:sp>
        <p:nvSpPr>
          <p:cNvPr id="140" name="Rectangle 139">
            <a:extLst>
              <a:ext uri="{FF2B5EF4-FFF2-40B4-BE49-F238E27FC236}">
                <a16:creationId xmlns:a16="http://schemas.microsoft.com/office/drawing/2014/main" id="{8B760A13-E1BB-F21E-35BC-F4C6710C30B6}"/>
              </a:ext>
            </a:extLst>
          </p:cNvPr>
          <p:cNvSpPr/>
          <p:nvPr/>
        </p:nvSpPr>
        <p:spPr>
          <a:xfrm>
            <a:off x="6300716" y="1006522"/>
            <a:ext cx="2740925" cy="6596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ea typeface="Calibri"/>
                <a:cs typeface="Calibri"/>
              </a:rPr>
              <a:t>Green to highlight we have completed this </a:t>
            </a:r>
            <a:r>
              <a:rPr lang="en-GB" dirty="0" err="1">
                <a:solidFill>
                  <a:schemeClr val="tx1"/>
                </a:solidFill>
                <a:ea typeface="Calibri"/>
                <a:cs typeface="Calibri"/>
              </a:rPr>
              <a:t>taskboard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1CD0E3D-941C-D40A-F7DF-37002144AC10}"/>
              </a:ext>
            </a:extLst>
          </p:cNvPr>
          <p:cNvSpPr/>
          <p:nvPr/>
        </p:nvSpPr>
        <p:spPr>
          <a:xfrm>
            <a:off x="5481849" y="5407925"/>
            <a:ext cx="2740925" cy="6596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  <a:ea typeface="Calibri"/>
                <a:cs typeface="Calibri"/>
              </a:rPr>
              <a:t>Assigned Initial next to individual tasks to help create sense of urgency for each individual 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321123E5-0CDC-4CFC-9018-FAA7436C2206}"/>
              </a:ext>
            </a:extLst>
          </p:cNvPr>
          <p:cNvSpPr/>
          <p:nvPr/>
        </p:nvSpPr>
        <p:spPr>
          <a:xfrm>
            <a:off x="9041641" y="5072417"/>
            <a:ext cx="2740925" cy="6596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solidFill>
                  <a:schemeClr val="tx1"/>
                </a:solidFill>
                <a:ea typeface="Calibri"/>
                <a:cs typeface="Calibri"/>
              </a:rPr>
              <a:t>Yellow to highlight high priority to the team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43" name="Arrow: Up 142">
            <a:extLst>
              <a:ext uri="{FF2B5EF4-FFF2-40B4-BE49-F238E27FC236}">
                <a16:creationId xmlns:a16="http://schemas.microsoft.com/office/drawing/2014/main" id="{4BD47EE5-4E4E-29D4-F487-912952E93487}"/>
              </a:ext>
            </a:extLst>
          </p:cNvPr>
          <p:cNvSpPr/>
          <p:nvPr/>
        </p:nvSpPr>
        <p:spPr>
          <a:xfrm>
            <a:off x="9496567" y="4412776"/>
            <a:ext cx="500417" cy="659641"/>
          </a:xfrm>
          <a:prstGeom prst="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6" name="Arrow: Up 145">
            <a:extLst>
              <a:ext uri="{FF2B5EF4-FFF2-40B4-BE49-F238E27FC236}">
                <a16:creationId xmlns:a16="http://schemas.microsoft.com/office/drawing/2014/main" id="{03F39203-91DD-8E1D-3282-2BD22F5CB81D}"/>
              </a:ext>
            </a:extLst>
          </p:cNvPr>
          <p:cNvSpPr/>
          <p:nvPr/>
        </p:nvSpPr>
        <p:spPr>
          <a:xfrm rot="10800000">
            <a:off x="6852313" y="1723028"/>
            <a:ext cx="500417" cy="716506"/>
          </a:xfrm>
          <a:prstGeom prst="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7" name="Arrow: Curved Left 146">
            <a:extLst>
              <a:ext uri="{FF2B5EF4-FFF2-40B4-BE49-F238E27FC236}">
                <a16:creationId xmlns:a16="http://schemas.microsoft.com/office/drawing/2014/main" id="{4DCA298A-8EC2-18C6-0FBE-DDE0950DD5D4}"/>
              </a:ext>
            </a:extLst>
          </p:cNvPr>
          <p:cNvSpPr/>
          <p:nvPr/>
        </p:nvSpPr>
        <p:spPr>
          <a:xfrm rot="11520000">
            <a:off x="6723824" y="4715001"/>
            <a:ext cx="449239" cy="716508"/>
          </a:xfrm>
          <a:prstGeom prst="curved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546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FB2B5-94DA-03D0-719A-EE4C5E2EA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3814" y="470748"/>
            <a:ext cx="5758628" cy="3355853"/>
          </a:xfrm>
        </p:spPr>
        <p:txBody>
          <a:bodyPr anchor="t">
            <a:normAutofit/>
          </a:bodyPr>
          <a:lstStyle/>
          <a:p>
            <a:r>
              <a:rPr lang="en-GB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User Testing And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624B1-BA55-98F0-33A2-98C188BF5EA6}"/>
              </a:ext>
            </a:extLst>
          </p:cNvPr>
          <p:cNvSpPr txBox="1"/>
          <p:nvPr/>
        </p:nvSpPr>
        <p:spPr>
          <a:xfrm>
            <a:off x="10128738" y="160774"/>
            <a:ext cx="15488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Abdullah Ramzan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3FD131-5F99-E0E0-62B3-027F5C0043D3}"/>
              </a:ext>
            </a:extLst>
          </p:cNvPr>
          <p:cNvSpPr txBox="1"/>
          <p:nvPr/>
        </p:nvSpPr>
        <p:spPr>
          <a:xfrm>
            <a:off x="565558" y="2350777"/>
            <a:ext cx="3165987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dirty="0">
                <a:solidFill>
                  <a:schemeClr val="bg1">
                    <a:lumMod val="95000"/>
                    <a:lumOff val="5000"/>
                  </a:schemeClr>
                </a:solidFill>
                <a:latin typeface="Calibri Light"/>
                <a:ea typeface="Calibri Light"/>
                <a:cs typeface="Calibri Light"/>
              </a:rPr>
              <a:t>We surveyed students to understand whether a planner would help them manage deadlines and reduce their </a:t>
            </a:r>
            <a:r>
              <a:rPr lang="en-GB">
                <a:solidFill>
                  <a:schemeClr val="bg1">
                    <a:lumMod val="95000"/>
                    <a:lumOff val="5000"/>
                  </a:schemeClr>
                </a:solidFill>
                <a:latin typeface="Calibri Light"/>
                <a:ea typeface="Calibri Light"/>
                <a:cs typeface="Calibri Light"/>
              </a:rPr>
              <a:t>stress </a:t>
            </a:r>
            <a:endParaRPr lang="en-US">
              <a:solidFill>
                <a:schemeClr val="bg1">
                  <a:lumMod val="95000"/>
                  <a:lumOff val="5000"/>
                </a:schemeClr>
              </a:solidFill>
              <a:latin typeface="Calibri Light"/>
              <a:ea typeface="Calibri Light"/>
              <a:cs typeface="Calibri Light"/>
            </a:endParaRPr>
          </a:p>
          <a:p>
            <a:endParaRPr lang="en-GB" dirty="0">
              <a:solidFill>
                <a:schemeClr val="bg1">
                  <a:lumMod val="95000"/>
                  <a:lumOff val="5000"/>
                </a:schemeClr>
              </a:solidFill>
              <a:latin typeface="Calibri Light"/>
              <a:ea typeface="Calibri Light"/>
              <a:cs typeface="Calibri Light"/>
            </a:endParaRPr>
          </a:p>
          <a:p>
            <a:r>
              <a:rPr lang="en-GB">
                <a:solidFill>
                  <a:schemeClr val="bg1">
                    <a:lumMod val="95000"/>
                    <a:lumOff val="5000"/>
                  </a:schemeClr>
                </a:solidFill>
                <a:latin typeface="Calibri Light"/>
                <a:ea typeface="Calibri Light"/>
                <a:cs typeface="Calibri Light"/>
              </a:rPr>
              <a:t>These results show a clear demand</a:t>
            </a:r>
            <a:r>
              <a:rPr lang="en-GB" dirty="0">
                <a:solidFill>
                  <a:schemeClr val="bg1">
                    <a:lumMod val="95000"/>
                    <a:lumOff val="5000"/>
                  </a:schemeClr>
                </a:solidFill>
                <a:latin typeface="Calibri Light"/>
                <a:ea typeface="Calibri Light"/>
                <a:cs typeface="Calibri Light"/>
              </a:rPr>
              <a:t> for a </a:t>
            </a:r>
            <a:r>
              <a:rPr lang="en-GB">
                <a:solidFill>
                  <a:schemeClr val="bg1">
                    <a:lumMod val="95000"/>
                    <a:lumOff val="5000"/>
                  </a:schemeClr>
                </a:solidFill>
                <a:latin typeface="Calibri Light"/>
                <a:ea typeface="Calibri Light"/>
                <a:cs typeface="Calibri Light"/>
              </a:rPr>
              <a:t>centralised system to help students manage deadlines</a:t>
            </a:r>
            <a:r>
              <a:rPr lang="en-GB" dirty="0">
                <a:solidFill>
                  <a:schemeClr val="bg1">
                    <a:lumMod val="95000"/>
                    <a:lumOff val="5000"/>
                  </a:schemeClr>
                </a:solidFill>
                <a:latin typeface="Calibri Light"/>
                <a:ea typeface="Calibri Light"/>
                <a:cs typeface="Calibri Light"/>
              </a:rPr>
              <a:t> and stay organised</a:t>
            </a:r>
            <a:r>
              <a:rPr lang="en-GB" dirty="0">
                <a:solidFill>
                  <a:srgbClr val="D9E0E6"/>
                </a:solidFill>
                <a:latin typeface="Calibri Light"/>
                <a:ea typeface="Calibri Light"/>
                <a:cs typeface="Calibri Light"/>
              </a:rPr>
              <a:t>.</a:t>
            </a:r>
            <a:endParaRPr lang="en-GB">
              <a:solidFill>
                <a:srgbClr val="000000"/>
              </a:solidFill>
              <a:latin typeface="Calibri Light"/>
              <a:ea typeface="Calibri Light"/>
              <a:cs typeface="Calibri Light"/>
            </a:endParaRPr>
          </a:p>
          <a:p>
            <a:endParaRPr lang="en-GB" dirty="0">
              <a:solidFill>
                <a:schemeClr val="bg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6811EDD0-CFA2-628F-6A36-63B9E074D0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0698100"/>
              </p:ext>
            </p:extLst>
          </p:nvPr>
        </p:nvGraphicFramePr>
        <p:xfrm>
          <a:off x="5003030" y="1140210"/>
          <a:ext cx="6096000" cy="4169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3" name="Picture 12" descr="Checklist vector icon isolated on white background for graphic design, logo,  web site, social media, mobile app, illustration 27531382 Vector Art at  Vecteezy">
            <a:extLst>
              <a:ext uri="{FF2B5EF4-FFF2-40B4-BE49-F238E27FC236}">
                <a16:creationId xmlns:a16="http://schemas.microsoft.com/office/drawing/2014/main" id="{60203BB4-6C0C-70A4-C27A-DB86116B9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83" y="1016402"/>
            <a:ext cx="1447943" cy="12255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5631EFB-45E4-DCF6-7D64-727C558F6887}"/>
              </a:ext>
            </a:extLst>
          </p:cNvPr>
          <p:cNvSpPr txBox="1"/>
          <p:nvPr/>
        </p:nvSpPr>
        <p:spPr>
          <a:xfrm>
            <a:off x="9758149" y="159224"/>
            <a:ext cx="20471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chemeClr val="bg1"/>
                </a:solidFill>
                <a:ea typeface="Calibri"/>
                <a:cs typeface="Calibri"/>
              </a:rPr>
              <a:t>Abdullah</a:t>
            </a:r>
            <a:r>
              <a:rPr lang="en-GB" dirty="0">
                <a:solidFill>
                  <a:schemeClr val="bg1"/>
                </a:solidFill>
                <a:ea typeface="Calibri"/>
                <a:cs typeface="Calibri"/>
              </a:rPr>
              <a:t> Ramzan</a:t>
            </a:r>
          </a:p>
        </p:txBody>
      </p:sp>
    </p:spTree>
    <p:extLst>
      <p:ext uri="{BB962C8B-B14F-4D97-AF65-F5344CB8AC3E}">
        <p14:creationId xmlns:p14="http://schemas.microsoft.com/office/powerpoint/2010/main" val="2209771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67C6A6-4295-3667-9D13-540292531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5C76C-74F3-48C7-F3F2-2FC195571A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147" y="316809"/>
            <a:ext cx="3657357" cy="631126"/>
          </a:xfrm>
        </p:spPr>
        <p:txBody>
          <a:bodyPr anchor="t">
            <a:normAutofit/>
          </a:bodyPr>
          <a:lstStyle/>
          <a:p>
            <a:r>
              <a:rPr lang="en-GB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Project Implementation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DF57C5D-4DC2-EAA4-86A6-AA7AF73FAC2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73073" y="5586873"/>
            <a:ext cx="48135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76424D-5A7F-4A61-026A-6B373DE13C0B}"/>
              </a:ext>
            </a:extLst>
          </p:cNvPr>
          <p:cNvSpPr txBox="1"/>
          <p:nvPr/>
        </p:nvSpPr>
        <p:spPr>
          <a:xfrm>
            <a:off x="10128738" y="160774"/>
            <a:ext cx="15488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Abdullah Ramzan</a:t>
            </a:r>
          </a:p>
        </p:txBody>
      </p:sp>
      <p:pic>
        <p:nvPicPr>
          <p:cNvPr id="16" name="Picture 15" descr="A screenshot of a student planner&#10;&#10;AI-generated content may be incorrect.">
            <a:extLst>
              <a:ext uri="{FF2B5EF4-FFF2-40B4-BE49-F238E27FC236}">
                <a16:creationId xmlns:a16="http://schemas.microsoft.com/office/drawing/2014/main" id="{74B189F3-5491-A011-7CAB-00958072D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09" y="1094812"/>
            <a:ext cx="7587577" cy="4141462"/>
          </a:xfrm>
          <a:prstGeom prst="rect">
            <a:avLst/>
          </a:prstGeom>
        </p:spPr>
      </p:pic>
      <p:pic>
        <p:nvPicPr>
          <p:cNvPr id="17" name="Picture 16" descr="A screenshot of a student planner&#10;&#10;AI-generated content may be incorrect.">
            <a:extLst>
              <a:ext uri="{FF2B5EF4-FFF2-40B4-BE49-F238E27FC236}">
                <a16:creationId xmlns:a16="http://schemas.microsoft.com/office/drawing/2014/main" id="{64B4EF24-25D7-DB0C-0547-C2215566C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276" y="1569684"/>
            <a:ext cx="7538937" cy="3726735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29830AE-F799-4E83-99B8-869897183722}"/>
              </a:ext>
            </a:extLst>
          </p:cNvPr>
          <p:cNvSpPr/>
          <p:nvPr/>
        </p:nvSpPr>
        <p:spPr>
          <a:xfrm>
            <a:off x="7855084" y="3882957"/>
            <a:ext cx="2286000" cy="10538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ea typeface="Calibri"/>
                <a:cs typeface="Calibri"/>
              </a:rPr>
              <a:t>Inputting deadlines and/or tasks</a:t>
            </a:r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C351F9-437C-DE1D-8269-3DD86E0040D9}"/>
              </a:ext>
            </a:extLst>
          </p:cNvPr>
          <p:cNvSpPr/>
          <p:nvPr/>
        </p:nvSpPr>
        <p:spPr>
          <a:xfrm>
            <a:off x="2277892" y="4766552"/>
            <a:ext cx="2286000" cy="10538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dirty="0" err="1">
                <a:ea typeface="Calibri"/>
                <a:cs typeface="Calibri"/>
              </a:rPr>
              <a:t>Calender</a:t>
            </a:r>
            <a:r>
              <a:rPr lang="en-GB" dirty="0">
                <a:ea typeface="Calibri"/>
                <a:cs typeface="Calibri"/>
              </a:rPr>
              <a:t> to help show if students have deadlines due</a:t>
            </a:r>
            <a:endParaRPr lang="en-US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D6B530E-3A4D-CB15-58FC-B1A4FD403D79}"/>
              </a:ext>
            </a:extLst>
          </p:cNvPr>
          <p:cNvSpPr/>
          <p:nvPr/>
        </p:nvSpPr>
        <p:spPr>
          <a:xfrm>
            <a:off x="8986537" y="465502"/>
            <a:ext cx="2286000" cy="10538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ea typeface="Calibri"/>
                <a:cs typeface="Calibri"/>
              </a:rPr>
              <a:t>Event button for student wellbeing</a:t>
            </a:r>
            <a:endParaRPr lang="en-GB"/>
          </a:p>
        </p:txBody>
      </p:sp>
      <p:sp>
        <p:nvSpPr>
          <p:cNvPr id="26" name="Arrow: Up 25">
            <a:extLst>
              <a:ext uri="{FF2B5EF4-FFF2-40B4-BE49-F238E27FC236}">
                <a16:creationId xmlns:a16="http://schemas.microsoft.com/office/drawing/2014/main" id="{2FE576CB-22F9-CD4D-2C85-202F831C4054}"/>
              </a:ext>
            </a:extLst>
          </p:cNvPr>
          <p:cNvSpPr/>
          <p:nvPr/>
        </p:nvSpPr>
        <p:spPr>
          <a:xfrm rot="-660000">
            <a:off x="8314738" y="3339391"/>
            <a:ext cx="500417" cy="716506"/>
          </a:xfrm>
          <a:prstGeom prst="up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Arrow: Curved Left 27">
            <a:extLst>
              <a:ext uri="{FF2B5EF4-FFF2-40B4-BE49-F238E27FC236}">
                <a16:creationId xmlns:a16="http://schemas.microsoft.com/office/drawing/2014/main" id="{F8CCD5B5-8DD2-F61D-731D-418E73472BE0}"/>
              </a:ext>
            </a:extLst>
          </p:cNvPr>
          <p:cNvSpPr/>
          <p:nvPr/>
        </p:nvSpPr>
        <p:spPr>
          <a:xfrm rot="-1740000">
            <a:off x="11865136" y="699242"/>
            <a:ext cx="657055" cy="1524690"/>
          </a:xfrm>
          <a:prstGeom prst="curvedLef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705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AC52-903D-0422-E022-3FDC8C945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50297" y="1336027"/>
            <a:ext cx="10515600" cy="509946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Evaluation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0582B7-8C56-1A83-27D7-2A371418C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866" y="1841612"/>
            <a:ext cx="3874945" cy="3373057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GB" sz="1900" b="1" dirty="0"/>
              <a:t>Benefits</a:t>
            </a:r>
          </a:p>
          <a:p>
            <a:r>
              <a:rPr lang="en-GB" sz="1800" dirty="0"/>
              <a:t>Fewer missed deadlines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→ improved academic performance</a:t>
            </a:r>
          </a:p>
          <a:p>
            <a:r>
              <a:rPr lang="en-GB" sz="1800" dirty="0"/>
              <a:t>Reduced stress from forgetting important tasks </a:t>
            </a:r>
          </a:p>
          <a:p>
            <a:r>
              <a:rPr lang="en-GB" sz="1800" dirty="0"/>
              <a:t>Clear and organised calendar interface</a:t>
            </a:r>
          </a:p>
          <a:p>
            <a:r>
              <a:rPr lang="en-GB" sz="1800" dirty="0"/>
              <a:t>Helps students stay focused and manage time effectively </a:t>
            </a:r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D1392-D883-E677-9AA5-53F5B1524928}"/>
              </a:ext>
            </a:extLst>
          </p:cNvPr>
          <p:cNvSpPr txBox="1"/>
          <p:nvPr/>
        </p:nvSpPr>
        <p:spPr>
          <a:xfrm>
            <a:off x="9832259" y="57348"/>
            <a:ext cx="1730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Mohammad Danish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5539FD-D7E5-0EE4-DB44-EAFA2664B6A3}"/>
              </a:ext>
            </a:extLst>
          </p:cNvPr>
          <p:cNvSpPr txBox="1"/>
          <p:nvPr/>
        </p:nvSpPr>
        <p:spPr>
          <a:xfrm>
            <a:off x="8741794" y="1847591"/>
            <a:ext cx="3909848" cy="258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Limitations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Students may become dependent on the system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Too many reminders could lead to notification fatigue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Requires internet access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Task may be added and not completed</a:t>
            </a:r>
          </a:p>
        </p:txBody>
      </p:sp>
      <p:pic>
        <p:nvPicPr>
          <p:cNvPr id="9" name="Picture 8" descr="Pros cons Images - Free Download on Freepik">
            <a:extLst>
              <a:ext uri="{FF2B5EF4-FFF2-40B4-BE49-F238E27FC236}">
                <a16:creationId xmlns:a16="http://schemas.microsoft.com/office/drawing/2014/main" id="{BD855124-16B0-6B1C-9713-DE8AD65A0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83" y="2348540"/>
            <a:ext cx="3200400" cy="216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11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7B93-1024-10C1-CC52-C0E4003AE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sz="3700">
                <a:solidFill>
                  <a:srgbClr val="FFFFFF"/>
                </a:solidFill>
              </a:rPr>
              <a:t>What we learnt &amp; Improvements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8021B-6EE5-C1C1-1AC1-FF4974647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sz="2000" b="1" dirty="0"/>
              <a:t>What we learnt:</a:t>
            </a:r>
          </a:p>
          <a:p>
            <a:r>
              <a:rPr lang="en-GB" sz="1800" dirty="0"/>
              <a:t>Clear communication is essential for effective teamwork</a:t>
            </a:r>
          </a:p>
          <a:p>
            <a:r>
              <a:rPr lang="en-GB" sz="1800" dirty="0"/>
              <a:t>Importance of managing time and meeting deadlines as a group</a:t>
            </a:r>
          </a:p>
          <a:p>
            <a:r>
              <a:rPr lang="en-GB" sz="1800" dirty="0"/>
              <a:t>Adapting to challenges </a:t>
            </a:r>
          </a:p>
          <a:p>
            <a:r>
              <a:rPr lang="en-GB" sz="1800" dirty="0"/>
              <a:t>Working with different ideas and perspectives </a:t>
            </a:r>
          </a:p>
          <a:p>
            <a:r>
              <a:rPr lang="en-GB" sz="1800" dirty="0"/>
              <a:t>Collaborating improves the overall quality of the project </a:t>
            </a:r>
          </a:p>
          <a:p>
            <a:endParaRPr lang="en-GB" sz="1800" dirty="0"/>
          </a:p>
          <a:p>
            <a:r>
              <a:rPr lang="en-GB" sz="2000" b="1" dirty="0"/>
              <a:t>How we could improve:</a:t>
            </a:r>
          </a:p>
          <a:p>
            <a:r>
              <a:rPr lang="en-GB" sz="1800" dirty="0"/>
              <a:t>Improve the communication consistency across the team</a:t>
            </a:r>
          </a:p>
          <a:p>
            <a:r>
              <a:rPr lang="en-GB" sz="1800" dirty="0"/>
              <a:t>Plan the workload more evenly between team members </a:t>
            </a:r>
          </a:p>
          <a:p>
            <a:r>
              <a:rPr lang="en-GB" sz="1800" dirty="0"/>
              <a:t>Improve individual time management on assigned tasks </a:t>
            </a:r>
          </a:p>
          <a:p>
            <a:r>
              <a:rPr lang="en-GB" sz="1800" dirty="0"/>
              <a:t>Communicate earlier when an issue arises</a:t>
            </a:r>
          </a:p>
          <a:p>
            <a:pPr marL="0" indent="0">
              <a:buNone/>
            </a:pPr>
            <a:r>
              <a:rPr lang="en-GB" sz="1800" dirty="0"/>
              <a:t>Although we worked well as a team, we recognised that improving communication and time management would make us even more efficient in future projects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9C9042-E780-B9C4-2DE1-49123BB10896}"/>
              </a:ext>
            </a:extLst>
          </p:cNvPr>
          <p:cNvSpPr txBox="1"/>
          <p:nvPr/>
        </p:nvSpPr>
        <p:spPr>
          <a:xfrm>
            <a:off x="10430190" y="218692"/>
            <a:ext cx="1555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Adam Emam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EB5F1C-230B-16CA-B566-3A3BA51DB07E}"/>
              </a:ext>
            </a:extLst>
          </p:cNvPr>
          <p:cNvSpPr txBox="1"/>
          <p:nvPr/>
        </p:nvSpPr>
        <p:spPr>
          <a:xfrm>
            <a:off x="688074" y="220167"/>
            <a:ext cx="4199673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5400" dirty="0">
                <a:ea typeface="Calibri"/>
                <a:cs typeface="Calibri"/>
              </a:rPr>
              <a:t>What </a:t>
            </a:r>
            <a:r>
              <a:rPr lang="en-GB" sz="5400">
                <a:ea typeface="Calibri"/>
                <a:cs typeface="Calibri"/>
              </a:rPr>
              <a:t>we</a:t>
            </a:r>
            <a:endParaRPr lang="en-GB" sz="5400" dirty="0">
              <a:ea typeface="Calibri"/>
              <a:cs typeface="Calibri"/>
            </a:endParaRPr>
          </a:p>
          <a:p>
            <a:r>
              <a:rPr lang="en-GB" sz="5400">
                <a:ea typeface="Calibri"/>
                <a:cs typeface="Calibri"/>
              </a:rPr>
              <a:t>learnt</a:t>
            </a:r>
            <a:endParaRPr lang="en-GB" sz="5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6466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DF643-E306-E175-8F36-0C108801A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586B0-5160-07EE-28D9-162DD3C71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431743"/>
          </a:xfrm>
        </p:spPr>
        <p:txBody>
          <a:bodyPr/>
          <a:lstStyle/>
          <a:p>
            <a:pPr marL="0" indent="0">
              <a:buNone/>
            </a:pPr>
            <a:r>
              <a:rPr lang="en-GB" sz="2000" b="1" dirty="0"/>
              <a:t>What we delivered 🚚</a:t>
            </a:r>
            <a:endParaRPr lang="en-GB" sz="1600" dirty="0"/>
          </a:p>
          <a:p>
            <a:r>
              <a:rPr lang="en-GB" sz="1600" dirty="0"/>
              <a:t>A well-rounded planner that helps with academics while considering students' well-being</a:t>
            </a:r>
          </a:p>
          <a:p>
            <a:r>
              <a:rPr lang="en-GB" sz="1600" dirty="0"/>
              <a:t>No more missed deadlines, student anxiety, and messy schedules</a:t>
            </a:r>
          </a:p>
          <a:p>
            <a:r>
              <a:rPr lang="en-GB" sz="1600" dirty="0"/>
              <a:t>A data-safe platform for students to use and an alternative to unverified third-party apps/websites</a:t>
            </a:r>
          </a:p>
          <a:p>
            <a:r>
              <a:rPr lang="en-GB" sz="1600" dirty="0"/>
              <a:t>Track tasks daily, weekly, monthly, or yearly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53A25-84AE-3AC8-E9D0-B21F35BC59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b="1" dirty="0"/>
              <a:t>Future Work 🎯</a:t>
            </a:r>
          </a:p>
          <a:p>
            <a:r>
              <a:rPr lang="en-GB" sz="1600" dirty="0"/>
              <a:t>Using the help of AI to suggest study plans based on deadlines</a:t>
            </a:r>
          </a:p>
          <a:p>
            <a:r>
              <a:rPr lang="en-GB" sz="1600" dirty="0"/>
              <a:t>Track students' well-being based on their workload schedule</a:t>
            </a:r>
          </a:p>
          <a:p>
            <a:r>
              <a:rPr lang="en-GB" sz="1600" dirty="0"/>
              <a:t>Utilise an achievement system which will help students stay motivated and on track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91DD8C-4340-6762-7E58-899134EB9B2B}"/>
              </a:ext>
            </a:extLst>
          </p:cNvPr>
          <p:cNvSpPr txBox="1"/>
          <p:nvPr/>
        </p:nvSpPr>
        <p:spPr>
          <a:xfrm>
            <a:off x="9832259" y="57348"/>
            <a:ext cx="1730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Mohammad Danish</a:t>
            </a:r>
          </a:p>
        </p:txBody>
      </p:sp>
    </p:spTree>
    <p:extLst>
      <p:ext uri="{BB962C8B-B14F-4D97-AF65-F5344CB8AC3E}">
        <p14:creationId xmlns:p14="http://schemas.microsoft.com/office/powerpoint/2010/main" val="3593954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EFF4B-EED0-22D3-84D6-8CA837AFC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8613" y="498269"/>
            <a:ext cx="10157176" cy="1309646"/>
          </a:xfrm>
        </p:spPr>
        <p:txBody>
          <a:bodyPr>
            <a:noAutofit/>
          </a:bodyPr>
          <a:lstStyle/>
          <a:p>
            <a:r>
              <a:rPr lang="en-GB" sz="6600" dirty="0">
                <a:ea typeface="Calibri Light"/>
                <a:cs typeface="Calibri Light"/>
              </a:rPr>
              <a:t>Thank you for </a:t>
            </a:r>
            <a:r>
              <a:rPr lang="en-GB" sz="6600">
                <a:ea typeface="Calibri Light"/>
                <a:cs typeface="Calibri Light"/>
              </a:rPr>
              <a:t>your time</a:t>
            </a:r>
            <a:endParaRPr lang="en-US" sz="6600"/>
          </a:p>
        </p:txBody>
      </p:sp>
      <p:pic>
        <p:nvPicPr>
          <p:cNvPr id="5" name="Picture 4" descr="Logo - Questions Logo Transparent - Free Transparent PNG Download - PNGkey">
            <a:extLst>
              <a:ext uri="{FF2B5EF4-FFF2-40B4-BE49-F238E27FC236}">
                <a16:creationId xmlns:a16="http://schemas.microsoft.com/office/drawing/2014/main" id="{FB6C1636-06D5-7700-AF1C-4B2831197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016" y="1814999"/>
            <a:ext cx="6945745" cy="43953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161C94-B1DA-320B-95B8-0E97AB2CD474}"/>
              </a:ext>
            </a:extLst>
          </p:cNvPr>
          <p:cNvSpPr txBox="1"/>
          <p:nvPr/>
        </p:nvSpPr>
        <p:spPr>
          <a:xfrm>
            <a:off x="9473565" y="129607"/>
            <a:ext cx="2718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/>
              <a:t>Adam Emam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633747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899</Words>
  <Application>Microsoft Office PowerPoint</Application>
  <PresentationFormat>Widescreen</PresentationFormat>
  <Paragraphs>120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Grandview Display</vt:lpstr>
      <vt:lpstr>Wingdings,Sans-Serif</vt:lpstr>
      <vt:lpstr>Retrospect</vt:lpstr>
      <vt:lpstr>REMINDER WEBSITE</vt:lpstr>
      <vt:lpstr>  AIMS OF REMINDER WEBSITE</vt:lpstr>
      <vt:lpstr>Problem Domain: Current University system</vt:lpstr>
      <vt:lpstr>               The impact of the problem</vt:lpstr>
      <vt:lpstr>Team Approach </vt:lpstr>
      <vt:lpstr>Team Activity and Working process</vt:lpstr>
      <vt:lpstr>User Testing And Results</vt:lpstr>
      <vt:lpstr>Project Implementation </vt:lpstr>
      <vt:lpstr>Evaluation</vt:lpstr>
      <vt:lpstr>What we learnt &amp; Improvements </vt:lpstr>
      <vt:lpstr>Conclusion </vt:lpstr>
      <vt:lpstr>Thank you for your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Tala Alzoabi</dc:creator>
  <cp:lastModifiedBy>Tala Alzoabi</cp:lastModifiedBy>
  <cp:revision>330</cp:revision>
  <dcterms:created xsi:type="dcterms:W3CDTF">2026-04-14T14:19:39Z</dcterms:created>
  <dcterms:modified xsi:type="dcterms:W3CDTF">2026-06-23T23:27:02Z</dcterms:modified>
</cp:coreProperties>
</file>